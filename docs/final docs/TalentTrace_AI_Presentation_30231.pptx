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4e973fd2a3484c" /><Relationship Type="http://schemas.openxmlformats.org/officeDocument/2006/relationships/extended-properties" Target="/docProps/app.xml" Id="R9e981e6c3d7f48b9" /><Relationship Type="http://schemas.openxmlformats.org/officeDocument/2006/relationships/officeDocument" Target="/ppt/presentation.xml" Id="R362578273e9347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6987ba18724799"/>
  </p:sldMasterIdLst>
  <p:notesMasterIdLst>
    <p:notesMasterId xmlns:r="http://schemas.openxmlformats.org/officeDocument/2006/relationships" r:id="R8d2a485d15e04646"/>
  </p:notesMasterIdLst>
  <p:sldIdLst>
    <p:sldId xmlns:r="http://schemas.openxmlformats.org/officeDocument/2006/relationships" id="256" r:id="R80c099de809b4997"/>
    <p:sldId xmlns:r="http://schemas.openxmlformats.org/officeDocument/2006/relationships" id="257" r:id="R8fa9fe302a17481e"/>
    <p:sldId xmlns:r="http://schemas.openxmlformats.org/officeDocument/2006/relationships" id="258" r:id="Rd5a0c4d5817645ea"/>
    <p:sldId xmlns:r="http://schemas.openxmlformats.org/officeDocument/2006/relationships" id="259" r:id="R139b664360c24ee9"/>
    <p:sldId xmlns:r="http://schemas.openxmlformats.org/officeDocument/2006/relationships" id="260" r:id="R031ae491fb624d99"/>
    <p:sldId xmlns:r="http://schemas.openxmlformats.org/officeDocument/2006/relationships" id="261" r:id="R468fd19f4069466f"/>
    <p:sldId xmlns:r="http://schemas.openxmlformats.org/officeDocument/2006/relationships" id="262" r:id="R32165b105f484830"/>
    <p:sldId xmlns:r="http://schemas.openxmlformats.org/officeDocument/2006/relationships" id="263" r:id="R1fa8eee228a14b45"/>
    <p:sldId xmlns:r="http://schemas.openxmlformats.org/officeDocument/2006/relationships" id="264" r:id="R30d7e0b54b294ea5"/>
    <p:sldId xmlns:r="http://schemas.openxmlformats.org/officeDocument/2006/relationships" id="265" r:id="Re9da42d1824b4366"/>
    <p:sldId xmlns:r="http://schemas.openxmlformats.org/officeDocument/2006/relationships" id="266" r:id="Rd6750a2b8e6c41d8"/>
    <p:sldId xmlns:r="http://schemas.openxmlformats.org/officeDocument/2006/relationships" id="267" r:id="R69e005d79dbf42e1"/>
    <p:sldId xmlns:r="http://schemas.openxmlformats.org/officeDocument/2006/relationships" id="268" r:id="Rcbe865794b8b4068"/>
    <p:sldId xmlns:r="http://schemas.openxmlformats.org/officeDocument/2006/relationships" id="269" r:id="Ra31851e81f30483a"/>
    <p:sldId xmlns:r="http://schemas.openxmlformats.org/officeDocument/2006/relationships" id="270" r:id="R201b6194a696409d"/>
    <p:sldId xmlns:r="http://schemas.openxmlformats.org/officeDocument/2006/relationships" id="271" r:id="R76a8d4a6e5be4be9"/>
    <p:sldId xmlns:r="http://schemas.openxmlformats.org/officeDocument/2006/relationships" id="272" r:id="R93e5296ed31c4a08"/>
    <p:sldId xmlns:r="http://schemas.openxmlformats.org/officeDocument/2006/relationships" id="273" r:id="R073c0a0535b54e81"/>
  </p:sldIdLst>
  <p:sldSz cx="12192000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8559f8d3d74f96" /><Relationship Type="http://schemas.openxmlformats.org/officeDocument/2006/relationships/slideMaster" Target="/ppt/slideMasters/slideMaster1.xml" Id="R2f6987ba18724799" /><Relationship Type="http://schemas.openxmlformats.org/officeDocument/2006/relationships/notesMaster" Target="/ppt/notesMasters/notesMaster1.xml" Id="R8d2a485d15e04646" /><Relationship Type="http://schemas.openxmlformats.org/officeDocument/2006/relationships/presProps" Target="/ppt/presProps.xml" Id="Rd7ab06e578eb4613" /><Relationship Type="http://schemas.openxmlformats.org/officeDocument/2006/relationships/viewProps" Target="/ppt/viewProps.xml" Id="R3e96a338273a4386" /><Relationship Type="http://schemas.openxmlformats.org/officeDocument/2006/relationships/tableStyles" Target="/ppt/tableStyles.xml" Id="R10312dc188b84dec" /><Relationship Type="http://schemas.openxmlformats.org/officeDocument/2006/relationships/slide" Target="/ppt/slides/slide1.xml" Id="R80c099de809b4997" /><Relationship Type="http://schemas.openxmlformats.org/officeDocument/2006/relationships/slide" Target="/ppt/slides/slide2.xml" Id="R8fa9fe302a17481e" /><Relationship Type="http://schemas.openxmlformats.org/officeDocument/2006/relationships/slide" Target="/ppt/slides/slide3.xml" Id="Rd5a0c4d5817645ea" /><Relationship Type="http://schemas.openxmlformats.org/officeDocument/2006/relationships/slide" Target="/ppt/slides/slide4.xml" Id="R139b664360c24ee9" /><Relationship Type="http://schemas.openxmlformats.org/officeDocument/2006/relationships/slide" Target="/ppt/slides/slide5.xml" Id="R031ae491fb624d99" /><Relationship Type="http://schemas.openxmlformats.org/officeDocument/2006/relationships/slide" Target="/ppt/slides/slide6.xml" Id="R468fd19f4069466f" /><Relationship Type="http://schemas.openxmlformats.org/officeDocument/2006/relationships/slide" Target="/ppt/slides/slide7.xml" Id="R32165b105f484830" /><Relationship Type="http://schemas.openxmlformats.org/officeDocument/2006/relationships/slide" Target="/ppt/slides/slide8.xml" Id="R1fa8eee228a14b45" /><Relationship Type="http://schemas.openxmlformats.org/officeDocument/2006/relationships/slide" Target="/ppt/slides/slide9.xml" Id="R30d7e0b54b294ea5" /><Relationship Type="http://schemas.openxmlformats.org/officeDocument/2006/relationships/slide" Target="/ppt/slides/slide10.xml" Id="Re9da42d1824b4366" /><Relationship Type="http://schemas.openxmlformats.org/officeDocument/2006/relationships/slide" Target="/ppt/slides/slide11.xml" Id="Rd6750a2b8e6c41d8" /><Relationship Type="http://schemas.openxmlformats.org/officeDocument/2006/relationships/slide" Target="/ppt/slides/slide12.xml" Id="R69e005d79dbf42e1" /><Relationship Type="http://schemas.openxmlformats.org/officeDocument/2006/relationships/slide" Target="/ppt/slides/slide13.xml" Id="Rcbe865794b8b4068" /><Relationship Type="http://schemas.openxmlformats.org/officeDocument/2006/relationships/slide" Target="/ppt/slides/slide14.xml" Id="Ra31851e81f30483a" /><Relationship Type="http://schemas.openxmlformats.org/officeDocument/2006/relationships/slide" Target="/ppt/slides/slide15.xml" Id="R201b6194a696409d" /><Relationship Type="http://schemas.openxmlformats.org/officeDocument/2006/relationships/slide" Target="/ppt/slides/slide16.xml" Id="R76a8d4a6e5be4be9" /><Relationship Type="http://schemas.openxmlformats.org/officeDocument/2006/relationships/slide" Target="/ppt/slides/slide17.xml" Id="R93e5296ed31c4a08" /><Relationship Type="http://schemas.openxmlformats.org/officeDocument/2006/relationships/slide" Target="/ppt/slides/slide18.xml" Id="R073c0a0535b54e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75d7a4f4e64b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912b453522402c" /><Relationship Type="http://schemas.openxmlformats.org/officeDocument/2006/relationships/notesMaster" Target="/ppt/notesMasters/notesMaster1.xml" Id="Rdec83101cca744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0b7a47dbd694159" /><Relationship Type="http://schemas.openxmlformats.org/officeDocument/2006/relationships/notesMaster" Target="/ppt/notesMasters/notesMaster1.xml" Id="R21396c362a604a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0c87bf51ba04d78" /><Relationship Type="http://schemas.openxmlformats.org/officeDocument/2006/relationships/notesMaster" Target="/ppt/notesMasters/notesMaster1.xml" Id="R566e876d4620416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b0c900b545c4fa1" /><Relationship Type="http://schemas.openxmlformats.org/officeDocument/2006/relationships/notesMaster" Target="/ppt/notesMasters/notesMaster1.xml" Id="Rf338b1570ee342e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88a28ea3ef4a9b" /><Relationship Type="http://schemas.openxmlformats.org/officeDocument/2006/relationships/notesMaster" Target="/ppt/notesMasters/notesMaster1.xml" Id="R60974f3838a94e0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0d1f4ecdfd448f7" /><Relationship Type="http://schemas.openxmlformats.org/officeDocument/2006/relationships/notesMaster" Target="/ppt/notesMasters/notesMaster1.xml" Id="Rf574fc76da46450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7e2921e507f4d81" /><Relationship Type="http://schemas.openxmlformats.org/officeDocument/2006/relationships/notesMaster" Target="/ppt/notesMasters/notesMaster1.xml" Id="R8c030c14cbac42a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505f24c74fb4436" /><Relationship Type="http://schemas.openxmlformats.org/officeDocument/2006/relationships/notesMaster" Target="/ppt/notesMasters/notesMaster1.xml" Id="R41cc389ea242441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a689845495443e3" /><Relationship Type="http://schemas.openxmlformats.org/officeDocument/2006/relationships/notesMaster" Target="/ppt/notesMasters/notesMaster1.xml" Id="R00c997ccb611400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685a2849135467c" /><Relationship Type="http://schemas.openxmlformats.org/officeDocument/2006/relationships/notesMaster" Target="/ppt/notesMasters/notesMaster1.xml" Id="Rb7a73d253716426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7bcf2c84cad4269" /><Relationship Type="http://schemas.openxmlformats.org/officeDocument/2006/relationships/notesMaster" Target="/ppt/notesMasters/notesMaster1.xml" Id="R2bf8543ab35c401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ca4db830cc24626" /><Relationship Type="http://schemas.openxmlformats.org/officeDocument/2006/relationships/notesMaster" Target="/ppt/notesMasters/notesMaster1.xml" Id="R97e6671bb5ed405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13cc3f1cba44199" /><Relationship Type="http://schemas.openxmlformats.org/officeDocument/2006/relationships/notesMaster" Target="/ppt/notesMasters/notesMaster1.xml" Id="R578055fce6844ce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767f275ab144ca6" /><Relationship Type="http://schemas.openxmlformats.org/officeDocument/2006/relationships/notesMaster" Target="/ppt/notesMasters/notesMaster1.xml" Id="R75cade9cbc0f451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4ed9d815639462b" /><Relationship Type="http://schemas.openxmlformats.org/officeDocument/2006/relationships/notesMaster" Target="/ppt/notesMasters/notesMaster1.xml" Id="Rf2f8785458d946c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5c5f3bb16a94896" /><Relationship Type="http://schemas.openxmlformats.org/officeDocument/2006/relationships/notesMaster" Target="/ppt/notesMasters/notesMaster1.xml" Id="R0821750d299d4fa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3085c0e7257407b" /><Relationship Type="http://schemas.openxmlformats.org/officeDocument/2006/relationships/notesMaster" Target="/ppt/notesMasters/notesMaster1.xml" Id="Rac20861a5b98436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c26b46ab13b4faf" /><Relationship Type="http://schemas.openxmlformats.org/officeDocument/2006/relationships/notesMaster" Target="/ppt/notesMasters/notesMaster1.xml" Id="Re9eedf311a2a4d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Presenter: Md. Shafi Mahmud. Trainer topic 1. TalentTrace AI is a recruiter workspace for job-specific CV screening, reviewed interviews and traceable assessment. The recruiter makes hiring decisions. Do not claim complete BID compliance, verified fairness or production readiness.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reviewed through 28 October 2026. Slides revised 29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Trainer topic 2. Purpose: reduce fragmented hiring evidence by connecting the job profile, CV requirements, reviewed interview and assessment. Each optional processing stage has its own authorization and evidence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reviewed through 28 October 2026. Slides revised 29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Trainer topic 3. These are the project problem assumptions, not measured claims about hiring throughput or bias reduction.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reviewed through 28 October 2026. Slides revised 29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Trainer topic 4. The five rows describe objectives, not certified BID completion. No independent B1-B5 numbering is asserted here.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reviewed through 28 October 2026. Slides revised 29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Trainer topic 5. Real synthetic provider tests, offline component tests and actual browser model-double tests have different scopes. F3 media passed; complete current F4 recognized/stored speech feeding real F5/F11 remains unverified.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reviewed through 28 October 2026. Slides revised 29 October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Repository source: README.md at release c4e8c90237fb5157e31d69706dc70913ffd25771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Repository source: docs/final_submission_audit_20261028.md at release c4e8c90237fb5157e31d69706dc70913ffd25771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Trainer topic 6. This is a logical component view, not a physical connection topology. React calls the same-origin nginx proxy and authenticated FastAPI APIs. FastAPI owns PostgreSQL/private file services and invokes LangGraph. The browser connects directly to LiveKit for media using short role-scoped grants issued by the backend. Browser AudioWorklet sends role-authenticated PCM to FastAPI; backend STT connects to local Faster-Whisper or separately consented AssemblyAI. Discord uses MCP webhook transport, Telegram uses Bot API, and Google Forms/Drive uses a bounded trusted intake bridge. Optional integrations require explicit configuration and authorization.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reviewed through 28 October 2026. Slides revised 29 October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Repository source: README.md at release c4e8c90237fb5157e31d69706dc70913ffd25771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Repository source: docs/architecture/application_overview.md at release c4e8c90237fb5157e31d69706dc70913ffd25771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Repository source: docs/task4_assemblyai_live_20261027.md at release c4e8c90237fb5157e31d69706dc70913ffd25771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Trainer topic 7. F11 is model-free despite the general LangGraph/Groq entry. Groq serves approved JD/CV and configured evaluation paths. Faster-Whisper is local optional STT; AssemblyAI is a separate cloud path. Telegram is Bot API, never Telegram MCP.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reviewed through 28 October 2026. Slides revised 29 October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Repository source: README.md at release c4e8c90237fb5157e31d69706dc70913ffd25771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Trainer topic 8. This flow describes implemented stages, not an accepted end-to-end live-provider demonstration. During the viva, show saved evidence and disclose gaps before any provider-dependent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reviewed through 28 October 2026. Slides revised 29 October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Repository source: docs/final_submission_audit_20261028.md at release c4e8c90237fb5157e31d69706dc70913ffd25771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Trainer topic 9. These are captured application screens, not UI mockups. Left: retained Task 7 browser review. Right: the single explicitly approved Google Form import. Different synthetic jobs appear in the two examples. No new provider operation ran to make this deck.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reviewed through 28 October 2026. Slides revised 29 October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Repository source: docs/task7_ui_remote_checkpoint_20261027.md at release c4e8c90237fb5157e31d69706dc70913ffd25771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Repository source: docs/google_single_import_20261028.md at release c4e8c90237fb5157e31d69706dc70913ffd25771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Trainer topic 9, continued. This screenshot is historical real Groq JD evidence, not a newly executed model call. The screen is from the retained pre-final-layout runtime. Demonstrate the Job Reference and revision rather than promising identical current screen geometry.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reviewed through 28 October 2026. Slides revised 29 October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Repository source: docs/task2_acceptance_20261026.md at release c4e8c90237fb5157e31d69706dc70913ffd25771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Repository source: docs/jd_chat_publishing_20261028.md at release c4e8c90237fb5157e31d69706dc70913ffd25771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Trainer topic 9, continued. Actual saved synthetic Groq/OCR result. The displayed 100/100 belongs only to this fixture and is not a quality, fairness or batch benchmark. Uncertain, excluded and failed records are distinct.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reviewed through 28 October 2026. Slides revised 29 October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Repository source: docs/task2_acceptance_20261026.md at release c4e8c90237fb5157e31d69706dc70913ffd25771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Repository source: docs/f1_f2_deadline_acceptance.md at release c4e8c90237fb5157e31d69706dc70913ffd25771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Trainer topic 9, continued. Left is a historical unconfirmed review panel, not proof of a newly booked interview. Separate browser booking/reload acceptance is recorded. Right shows the CV-only report and print access. Combined F6 and comparison used a labelled F5 model double in separate accepted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reviewed through 28 October 2026. Slides revised 29 October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Repository source: docs/trainer_feature_status_20261026.md at release c4e8c90237fb5157e31d69706dc70913ffd25771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Repository source: docs/f5_f6_final_acceptance_20261027.md at release c4e8c90237fb5157e31d69706dc70913ffd25771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Trainer topic 10. Do not attribute the self-hosted failure to ICE or the latest zero-caption result to WAV selection without causal evidence. The new selection-race fix passed offline tests, while historical root cause remains unknown. One Google intake and one private Discord post are real but narrowly scoped successes.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reviewed through 28 October 2026. Slides revised 29 October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Repository source: docs/deadline_closure_20261028.md at release c4e8c90237fb5157e31d69706dc70913ffd25771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Repository source: docs/google_single_import_20261028.md at release c4e8c90237fb5157e31d69706dc70913ffd25771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Repository source: docs/jd_chat_publishing_20261028.md at release c4e8c90237fb5157e31d69706dc70913ffd25771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limitations: N1 historical run 20 parsed, 19 decisions, four numeric scores, 11 eligible-unscored, four excluded, one terminal 429 in 449.09 seconds. N19 general deletion is incomplete. N21 same-host Docker passed, second machine not proved. F4 separate real API and offline browser successes do not prove real browser recognized/stored transcript. F5 current browser uses a deterministic model double. F11 uses fake STT. Prioritize candidate-associated erasure and bounded acceptance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reviewed through 28 October 2026. Slides revised 29 October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Repository source: docs/deadline_closure_20261028.md at release c4e8c90237fb5157e31d69706dc70913ffd25771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Supplemental explanation. F5 uses pairing, requirement mapping, curated reference retrieval, assessment and validation. F11 is model-free and only uses trusted finalized F4 events with two-party assistant consent, recruiter-only projection and abstention. Current F11 actual browser acceptance used simulated STT/media; no own transcript or suggestion persistence.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reviewed through 28 October 2026. Slides revised 29 October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Repository source: docs/f11_final_acceptance_20261027.md at release c4e8c90237fb5157e31d69706dc70913ffd25771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Repository source: docs/f5_f6_final_acceptance_20261027.md at release c4e8c90237fb5157e31d69706dc70913ffd25771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Supplemental privacy discussion. Transcript withdrawal/deletion is not full N19 candidate erasure. Exported reports and external copies have separate retention. Missing evidence must not become an adverse numeric score.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reviewed through 28 October 2026. Slides revised 29 October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Repository source: README.md at release c4e8c90237fb5157e31d69706dc70913ffd25771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Repository source: docs/deadline_closure_20261028.md at release c4e8c90237fb5157e31d69706dc70913ffd25771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verified release: c4e8c90237fb5157e31d69706dc70913ffd25771, annotated tag v1.0-final. Follow README commands, verify a new empty owned database before migration, and never reuse a preserved database URL. Same-host disposable Docker proof passed. Second clean-machine/full-feature operation is still unverified. Credentials, model caches and policy assets need separate setup.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reviewed through 28 October 2026. Slides revised 29 October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Repository source: README.md at release c4e8c90237fb5157e31d69706dc70913ffd25771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Repository source: docs/docker_startup.md at release c4e8c90237fb5157e31d69706dc70913ffd25771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Repository source: docs/deadline_closure_20261028.md at release c4e8c90237fb5157e31d69706dc70913ffd25771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Trainer topic 11. Explain one concrete implemented workflow, one evidence-backed strength and one remaining gap. Show retained synthetic screenshots rather than replaying expired invitations or withdrawn transcripts.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reviewed through 28 October 2026. Slides revised 29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15ccd3d1794b99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28177321024ee5" /><Relationship Type="http://schemas.openxmlformats.org/officeDocument/2006/relationships/slideLayout" Target="/ppt/slideLayouts/slideLayout1.xml" Id="R517a9f63862a461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7a9f63862a461b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77bd2d6114408e" /><Relationship Type="http://schemas.openxmlformats.org/officeDocument/2006/relationships/notesSlide" Target="/ppt/notesSlides/notesSlide1.xml" Id="R0c4d6619608a4a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24bf13de8040f5" /><Relationship Type="http://schemas.openxmlformats.org/officeDocument/2006/relationships/notesSlide" Target="/ppt/notesSlides/notesSlide2.xml" Id="Rd3c1b7ba098442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c4c58848414263" /><Relationship Type="http://schemas.openxmlformats.org/officeDocument/2006/relationships/notesSlide" Target="/ppt/notesSlides/notesSlide3.xml" Id="R06f6a048f412491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c87a741aa540d8" /><Relationship Type="http://schemas.openxmlformats.org/officeDocument/2006/relationships/notesSlide" Target="/ppt/notesSlides/notesSlide4.xml" Id="R4260b8edc1e94f1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0f3b33e7024def" /><Relationship Type="http://schemas.openxmlformats.org/officeDocument/2006/relationships/notesSlide" Target="/ppt/notesSlides/notesSlide5.xml" Id="Rd72111d50435448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6f6a861c504946" /><Relationship Type="http://schemas.openxmlformats.org/officeDocument/2006/relationships/notesSlide" Target="/ppt/notesSlides/notesSlide6.xml" Id="R4620c15253174b9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2419215c734993" /><Relationship Type="http://schemas.openxmlformats.org/officeDocument/2006/relationships/notesSlide" Target="/ppt/notesSlides/notesSlide7.xml" Id="R28463fb235e94f3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131f76bb29478c" /><Relationship Type="http://schemas.openxmlformats.org/officeDocument/2006/relationships/notesSlide" Target="/ppt/notesSlides/notesSlide8.xml" Id="Rd6f8f7b934df4d8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5a8069a3b44a30" /><Relationship Type="http://schemas.openxmlformats.org/officeDocument/2006/relationships/image" Target="/ppt/media/image.jpeg" Id="R238475e3ab7949d2" /><Relationship Type="http://schemas.openxmlformats.org/officeDocument/2006/relationships/image" Target="/ppt/media/image2.jpeg" Id="R4082524e6c2e4404" /><Relationship Type="http://schemas.openxmlformats.org/officeDocument/2006/relationships/notesSlide" Target="/ppt/notesSlides/notesSlide9.xml" Id="R4dc02318a3c64a7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362f9cd2cb4384" /><Relationship Type="http://schemas.openxmlformats.org/officeDocument/2006/relationships/image" Target="/ppt/media/image3.jpeg" Id="R7ec0e788b91a432b" /><Relationship Type="http://schemas.openxmlformats.org/officeDocument/2006/relationships/notesSlide" Target="/ppt/notesSlides/notesSlide10.xml" Id="R46d3a53521f74ab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303a00165548db" /><Relationship Type="http://schemas.openxmlformats.org/officeDocument/2006/relationships/image" Target="/ppt/media/image4.jpeg" Id="Rc9e97e3f46b84495" /><Relationship Type="http://schemas.openxmlformats.org/officeDocument/2006/relationships/notesSlide" Target="/ppt/notesSlides/notesSlide11.xml" Id="Rcad24dbf05ff4d4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4b28ada6174fcb" /><Relationship Type="http://schemas.openxmlformats.org/officeDocument/2006/relationships/image" Target="/ppt/media/image5.jpeg" Id="R8ac58760614b49d1" /><Relationship Type="http://schemas.openxmlformats.org/officeDocument/2006/relationships/image" Target="/ppt/media/image6.jpeg" Id="R97fa809ab2ef4949" /><Relationship Type="http://schemas.openxmlformats.org/officeDocument/2006/relationships/notesSlide" Target="/ppt/notesSlides/notesSlide12.xml" Id="R86cb589451ca497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02f29bfe964280" /><Relationship Type="http://schemas.openxmlformats.org/officeDocument/2006/relationships/notesSlide" Target="/ppt/notesSlides/notesSlide13.xml" Id="R0059f0cd384644d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feab0fb4e54cae" /><Relationship Type="http://schemas.openxmlformats.org/officeDocument/2006/relationships/notesSlide" Target="/ppt/notesSlides/notesSlide14.xml" Id="R4a21ceca48df482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7327aec6344547" /><Relationship Type="http://schemas.openxmlformats.org/officeDocument/2006/relationships/notesSlide" Target="/ppt/notesSlides/notesSlide15.xml" Id="R3e5500b4560246c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e0ad57142543e1" /><Relationship Type="http://schemas.openxmlformats.org/officeDocument/2006/relationships/notesSlide" Target="/ppt/notesSlides/notesSlide16.xml" Id="R5a36b2a9d72744a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140b7558d94519" /><Relationship Type="http://schemas.openxmlformats.org/officeDocument/2006/relationships/notesSlide" Target="/ppt/notesSlides/notesSlide17.xml" Id="Rd69fc5b6833f414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e762f476a749f3" /><Relationship Type="http://schemas.openxmlformats.org/officeDocument/2006/relationships/notesSlide" Target="/ppt/notesSlides/notesSlide18.xml" Id="Rd5ef1ed517534bf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DBDDB7C-65C2-4C73-AB78-CA4AC640B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0A3733"/>
          </a:solidFill>
          <a:ln xmlns:a="http://schemas.openxmlformats.org/drawingml/2006/main" w="12700">
            <a:solidFill>
              <a:srgbClr val="0A3733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C82A9AE-07AB-4C32-83B6-619E4849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45720"/>
            <a:ext cx="4709160" cy="5120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253">
              <a:alpha val="85000"/>
            </a:srgbClr>
          </a:solidFill>
          <a:ln xmlns:a="http://schemas.openxmlformats.org/drawingml/2006/main" w="12700">
            <a:solidFill>
              <a:srgbClr val="176253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F7C0264-2219-4B3A-81D4-EAC2296A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208" y="658368"/>
            <a:ext cx="3547872" cy="40965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806B">
              <a:alpha val="65000"/>
            </a:srgbClr>
          </a:solidFill>
          <a:ln xmlns:a="http://schemas.openxmlformats.org/drawingml/2006/main" w="12700">
            <a:solidFill>
              <a:srgbClr val="23806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74D278A-BE50-4F87-8020-118A531C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76656"/>
            <a:ext cx="594360" cy="594360"/>
          </a:xfrm>
          <a:prstGeom xmlns:a="http://schemas.openxmlformats.org/drawingml/2006/main" prst="roundRect">
            <a:avLst>
              <a:gd name="adj" fmla="val 21538"/>
            </a:avLst>
          </a:prstGeom>
          <a:solidFill xmlns:a="http://schemas.openxmlformats.org/drawingml/2006/main">
            <a:srgbClr val="197C6A"/>
          </a:solidFill>
          <a:ln xmlns:a="http://schemas.openxmlformats.org/drawingml/2006/main" w="12700">
            <a:solidFill>
              <a:srgbClr val="197C6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EAAFF0F-33EA-4F68-9E55-60B7C715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713232"/>
            <a:ext cx="5943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</a:t>
            </a:r>
            <a:endParaRPr sz="3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D1D85FA-CE2C-4A53-AD4A-B3D94B4D9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032" y="795528"/>
            <a:ext cx="50292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50" b="1" spc="170">
                <a:solidFill>
                  <a:srgbClr val="DDF3EB"/>
                </a:solidFill>
                <a:latin typeface="Aptos"/>
                <a:ea typeface="Aptos"/>
                <a:cs typeface="Aptos"/>
              </a:rPr>
              <a:t>TALENTTRACE AI</a:t>
            </a:r>
            <a:endParaRPr sz="16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6E8F011-02F6-4135-9E92-A9B36A526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1828800"/>
            <a:ext cx="914400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84B"/>
          </a:solidFill>
          <a:ln xmlns:a="http://schemas.openxmlformats.org/drawingml/2006/main" w="12700">
            <a:solidFill>
              <a:srgbClr val="F1B84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A488939-2F48-4480-9CA0-7F5C4F0E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2221992"/>
            <a:ext cx="8046720" cy="1472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3375"/>
            </a:defPPr>
            <a:lvl1pPr>
              <a:buNone/>
              <a:defRPr sz="3375"/>
            </a:lvl1pPr>
            <a:lvl2pPr>
              <a:buNone/>
              <a:defRPr sz="3375"/>
            </a:lvl2pPr>
            <a:lvl3pPr>
              <a:buNone/>
              <a:defRPr sz="3375"/>
            </a:lvl3pPr>
            <a:lvl4pPr>
              <a:buNone/>
              <a:defRPr sz="3375"/>
            </a:lvl4pPr>
            <a:lvl5pPr>
              <a:buNone/>
              <a:defRPr sz="3375"/>
            </a:lvl5pPr>
            <a:lvl6pPr>
              <a:buNone/>
              <a:defRPr sz="3375"/>
            </a:lvl6pPr>
            <a:lvl7pPr>
              <a:buNone/>
              <a:defRPr sz="3375"/>
            </a:lvl7pPr>
            <a:lvl8pPr>
              <a:buNone/>
              <a:defRPr sz="3375"/>
            </a:lvl8pPr>
            <a:lvl9pPr>
              <a:buNone/>
              <a:defRPr sz="3375"/>
            </a:lvl9pPr>
          </a:lstStyle>
          <a:p xmlns:a="http://schemas.openxmlformats.org/drawingml/2006/main">
            <a:pPr marL="0" indent="0" algn="l">
              <a:buNone/>
            </a:pPr>
            <a:r>
              <a:rPr sz="33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TalentTrace AI</a:t>
            </a:r>
            <a:endParaRPr sz="3500"/>
          </a:p>
          <a:p xmlns:a="http://schemas.openxmlformats.org/drawingml/2006/main">
            <a:pPr marL="0" indent="0" algn="l">
              <a:buNone/>
            </a:pPr>
            <a:r>
              <a:rPr sz="33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Evidence-led recruitment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BD00DD5-B5F8-4039-853A-98BE0F6B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178808"/>
            <a:ext cx="763524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800"/>
            </a:defPPr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marL="0" indent="0" algn="l">
              <a:buNone/>
            </a:pPr>
            <a:r>
              <a:rPr sz="1800">
                <a:solidFill>
                  <a:srgbClr val="D8ECE4"/>
                </a:solidFill>
                <a:latin typeface="Aptos"/>
                <a:ea typeface="Aptos"/>
                <a:cs typeface="Aptos"/>
              </a:rPr>
              <a:t>From job-specific CV screening to reviewed interviews and traceable assessment</a:t>
            </a:r>
            <a:endParaRPr sz="192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528C105-761B-4E4A-A3A0-5AB0B502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5541264"/>
            <a:ext cx="60990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477D7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F89D8A2-FF6B-4FCB-A446-2E7F2CF3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696712"/>
            <a:ext cx="5029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Presented by  Md. Shafi Mahmud</a:t>
            </a:r>
            <a:endParaRPr sz="1500">
              <a:latin typeface="Aptos"/>
              <a:ea typeface="Aptos"/>
              <a:cs typeface="Aptos"/>
            </a:endParaRP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E3513CB-CCB0-4222-B4BA-2FD9D900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6035040"/>
            <a:ext cx="7498080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250">
                <a:solidFill>
                  <a:srgbClr val="C3DED4"/>
                </a:solidFill>
                <a:latin typeface="Aptos"/>
                <a:ea typeface="Aptos"/>
                <a:cs typeface="Aptos"/>
              </a:rPr>
              <a:t>AI Trainee Programme  /  BJIT final project  /  October 2026</a:t>
            </a:r>
            <a:endParaRPr sz="1250">
              <a:latin typeface="Aptos"/>
              <a:ea typeface="Aptos"/>
              <a:cs typeface="Aptos"/>
            </a:endParaR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8A16A74E-6A18-4F87-AAE0-059025AD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4472" y="6492240"/>
            <a:ext cx="960120" cy="1583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19" b="0">
                <a:solidFill>
                  <a:srgbClr val="8C9A97"/>
                </a:solidFill>
                <a:latin typeface="Aptos"/>
                <a:ea typeface="Aptos"/>
                <a:cs typeface="Aptos"/>
              </a:defRPr>
            </a:pPr>
            <a:r>
              <a:t>01 / 18</a:t>
            </a:r>
          </a:p>
        </p:txBody>
      </p:sp>
    </p:spTree>
    <p:extLst>
      <p:ext uri="{BB962C8B-B14F-4D97-AF65-F5344CB8AC3E}">
        <p14:creationId xmlns:p14="http://schemas.microsoft.com/office/powerpoint/2010/main" val="101388564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1BB640A-E116-4939-978E-E5FFAA2B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F7FAF8"/>
          </a:solidFill>
          <a:ln xmlns:a="http://schemas.openxmlformats.org/drawingml/2006/main" w="12700">
            <a:solidFill>
              <a:srgbClr val="F7FAF8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70350B4-52FA-4A03-82FC-939CA31E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2296" cy="6858000"/>
          </a:xfrm>
          <a:prstGeom xmlns:a="http://schemas.openxmlformats.org/drawingml/2006/main" prst="roundRect">
            <a:avLst>
              <a:gd name="adj" fmla="val 177778"/>
            </a:avLst>
          </a:prstGeom>
          <a:solidFill xmlns:a="http://schemas.openxmlformats.org/drawingml/2006/main">
            <a:srgbClr val="104D43"/>
          </a:solidFill>
          <a:ln xmlns:a="http://schemas.openxmlformats.org/drawingml/2006/main" w="12700">
            <a:solidFill>
              <a:srgbClr val="104D43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C22B756-F0CC-4708-94F7-4F919C46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393192" cy="393192"/>
          </a:xfrm>
          <a:prstGeom xmlns:a="http://schemas.openxmlformats.org/drawingml/2006/main" prst="roundRect">
            <a:avLst>
              <a:gd name="adj" fmla="val 23256"/>
            </a:avLst>
          </a:prstGeom>
          <a:solidFill xmlns:a="http://schemas.openxmlformats.org/drawingml/2006/main">
            <a:srgbClr val="197C6A"/>
          </a:solidFill>
          <a:ln xmlns:a="http://schemas.openxmlformats.org/drawingml/2006/main" w="12700">
            <a:solidFill>
              <a:srgbClr val="197C6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12F0979-F740-4221-B73E-4DD0124C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4904"/>
            <a:ext cx="39319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</a:t>
            </a:r>
            <a:endParaRPr sz="2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BFB761F-7BC7-4908-8E28-5A18BAE2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" y="374904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 spc="90">
                <a:solidFill>
                  <a:srgbClr val="104D43"/>
                </a:solidFill>
                <a:latin typeface="Aptos"/>
                <a:ea typeface="Aptos"/>
                <a:cs typeface="Aptos"/>
              </a:rPr>
              <a:t>TALENTTRACE AI</a:t>
            </a:r>
            <a:endParaRPr sz="12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587591F-3947-40EB-A86A-A98E29AE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402336"/>
            <a:ext cx="23774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30" b="1" spc="100">
                <a:solidFill>
                  <a:srgbClr val="5A706B"/>
                </a:solidFill>
                <a:latin typeface="Aptos"/>
                <a:ea typeface="Aptos"/>
                <a:cs typeface="Aptos"/>
              </a:rPr>
              <a:t>CONTEXT</a:t>
            </a:r>
            <a:endParaRPr sz="103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6AC82A01-B75F-4986-9E17-E80E139D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77824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CE7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BD11A4D-B802-4663-B91B-8D435AFB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1060704"/>
            <a:ext cx="1106424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50" b="1">
                <a:solidFill>
                  <a:srgbClr val="104D43"/>
                </a:solidFill>
                <a:latin typeface="Aptos"/>
                <a:ea typeface="Aptos"/>
                <a:cs typeface="Aptos"/>
              </a:rPr>
              <a:t>Project overview</a:t>
            </a:r>
            <a:endParaRPr sz="27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655A8FF-9859-46C6-AE05-E320992B8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18488"/>
            <a:ext cx="10881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5A706B"/>
                </a:solidFill>
                <a:latin typeface="Aptos"/>
                <a:ea typeface="Aptos"/>
                <a:cs typeface="Aptos"/>
              </a:rPr>
              <a:t>One connected workflow across three stages of hiring.</a:t>
            </a:r>
            <a:endParaRPr sz="14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60608934-A8B5-402B-8811-26FCFF26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446520"/>
            <a:ext cx="111282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DCE7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1B3F63A-BE53-4204-BBC8-9A99C0739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6519672"/>
            <a:ext cx="7863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900">
                <a:solidFill>
                  <a:srgbClr val="8C9A97"/>
                </a:solidFill>
                <a:latin typeface="Aptos"/>
                <a:ea typeface="Aptos"/>
                <a:cs typeface="Aptos"/>
              </a:rPr>
              <a:t>AI Trainee Programme  /  BJIT final project  /  October 2026</a:t>
            </a:r>
            <a:endParaRPr sz="900">
              <a:latin typeface="Aptos"/>
              <a:ea typeface="Aptos"/>
              <a:cs typeface="Aptos"/>
            </a:endParaRP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8EC5121-18FC-4EC2-BA26-6F6503B9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4472" y="6519672"/>
            <a:ext cx="9601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30">
                <a:solidFill>
                  <a:srgbClr val="8C9A97"/>
                </a:solidFill>
                <a:latin typeface="Aptos"/>
                <a:ea typeface="Aptos"/>
                <a:cs typeface="Aptos"/>
              </a:rPr>
              <a:t>02 / 18</a:t>
            </a:r>
            <a:endParaRPr sz="93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5C29BE79-4EDB-434E-811B-A3F5A9B2A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2212848"/>
            <a:ext cx="3584448" cy="2724912"/>
          </a:xfrm>
          <a:prstGeom xmlns:a="http://schemas.openxmlformats.org/drawingml/2006/main" prst="roundRect">
            <a:avLst>
              <a:gd name="adj" fmla="val 53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7E2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AF568758-E198-48C4-92B5-37570C731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414016"/>
            <a:ext cx="566928" cy="566928"/>
          </a:xfrm>
          <a:prstGeom xmlns:a="http://schemas.openxmlformats.org/drawingml/2006/main" prst="roundRect">
            <a:avLst>
              <a:gd name="adj" fmla="val 22581"/>
            </a:avLst>
          </a:prstGeom>
          <a:solidFill xmlns:a="http://schemas.openxmlformats.org/drawingml/2006/main">
            <a:srgbClr val="ECF6F1"/>
          </a:solidFill>
          <a:ln xmlns:a="http://schemas.openxmlformats.org/drawingml/2006/main" w="12700">
            <a:solidFill>
              <a:srgbClr val="ECF6F1">
                <a:alpha val="0"/>
              </a:srgbClr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A121EF0-986B-4087-ABF8-4000777F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532888"/>
            <a:ext cx="56692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04D43"/>
                </a:solidFill>
                <a:latin typeface="Aptos"/>
                <a:ea typeface="Aptos"/>
                <a:cs typeface="Aptos"/>
              </a:rPr>
              <a:t>01</a:t>
            </a:r>
            <a:endParaRPr sz="16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5EF900C6-B7FC-483A-80A6-88FA9403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3209544"/>
            <a:ext cx="3163824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20" b="1">
                <a:solidFill>
                  <a:srgbClr val="104D43"/>
                </a:solidFill>
                <a:latin typeface="Aptos"/>
                <a:ea typeface="Aptos"/>
                <a:cs typeface="Aptos"/>
              </a:rPr>
              <a:t>PRE-INTERVIEW</a:t>
            </a:r>
            <a:endParaRPr sz="162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6437022-176D-4C11-AF80-C57B6077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3685032"/>
            <a:ext cx="3172968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5A706B"/>
                </a:solidFill>
                <a:latin typeface="Aptos"/>
                <a:ea typeface="Aptos"/>
                <a:cs typeface="Aptos"/>
              </a:rPr>
              <a:t>Define a role, ingest CVs, extract information, score and rank applicants.</a:t>
            </a:r>
            <a:endParaRPr sz="14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B0E1539-A48B-4611-9EA2-362B7FCA9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096" y="3538728"/>
            <a:ext cx="14630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197C6A"/>
            </a:solidFill>
            <a:prstDash val="solid"/>
            <a:headEnd type="none"/>
            <a:tailEnd type="triangle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797F0A35-9237-473C-A689-6CC4AB4B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44" y="2212848"/>
            <a:ext cx="3584448" cy="2724912"/>
          </a:xfrm>
          <a:prstGeom xmlns:a="http://schemas.openxmlformats.org/drawingml/2006/main" prst="roundRect">
            <a:avLst>
              <a:gd name="adj" fmla="val 53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7E2"/>
            </a:solidFill>
            <a:prstDash val="solid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B9A44E65-0F6D-4332-84A8-1BF5C162F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24" y="2414016"/>
            <a:ext cx="566928" cy="566928"/>
          </a:xfrm>
          <a:prstGeom xmlns:a="http://schemas.openxmlformats.org/drawingml/2006/main" prst="roundRect">
            <a:avLst>
              <a:gd name="adj" fmla="val 22581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12700">
            <a:solidFill>
              <a:srgbClr val="EAF1F8">
                <a:alpha val="0"/>
              </a:srgbClr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E47D02A-EAD8-4B72-ACC7-B85104D1D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24" y="2532888"/>
            <a:ext cx="56692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04D43"/>
                </a:solidFill>
                <a:latin typeface="Aptos"/>
                <a:ea typeface="Aptos"/>
                <a:cs typeface="Aptos"/>
              </a:rPr>
              <a:t>02</a:t>
            </a:r>
            <a:endParaRPr sz="16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226A25F-2F2D-4EC3-95A1-A12D83D9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24" y="3209544"/>
            <a:ext cx="3163824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20" b="1">
                <a:solidFill>
                  <a:srgbClr val="104D43"/>
                </a:solidFill>
                <a:latin typeface="Aptos"/>
                <a:ea typeface="Aptos"/>
                <a:cs typeface="Aptos"/>
              </a:rPr>
              <a:t>DURING INTERVIEW</a:t>
            </a:r>
            <a:endParaRPr sz="162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FA51BD9C-CB5B-44DD-8007-B4F19310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24" y="3685032"/>
            <a:ext cx="3172968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5A706B"/>
                </a:solidFill>
                <a:latin typeface="Aptos"/>
                <a:ea typeface="Aptos"/>
                <a:cs typeface="Aptos"/>
              </a:rPr>
              <a:t>Conduct a secure browser interview and capture structured dialogue.</a:t>
            </a:r>
            <a:endParaRPr sz="140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CBF3C6C5-5173-4C74-BA17-226B99F5D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856" y="3538728"/>
            <a:ext cx="14630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197C6A"/>
            </a:solidFill>
            <a:prstDash val="solid"/>
            <a:headEnd type="none"/>
            <a:tailEnd type="triangle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3C738D34-F8B9-42EF-9626-6C5F16B3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7304" y="2212848"/>
            <a:ext cx="3584448" cy="2724912"/>
          </a:xfrm>
          <a:prstGeom xmlns:a="http://schemas.openxmlformats.org/drawingml/2006/main" prst="roundRect">
            <a:avLst>
              <a:gd name="adj" fmla="val 53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7E2"/>
            </a:solidFill>
            <a:prstDash val="solid"/>
          </a:ln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F2AB7957-9EB3-4EFF-827D-4E0FD543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0184" y="2414016"/>
            <a:ext cx="566928" cy="566928"/>
          </a:xfrm>
          <a:prstGeom xmlns:a="http://schemas.openxmlformats.org/drawingml/2006/main" prst="roundRect">
            <a:avLst>
              <a:gd name="adj" fmla="val 22581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12700">
            <a:solidFill>
              <a:srgbClr val="FFF5DF">
                <a:alpha val="0"/>
              </a:srgbClr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5C8DB03B-B00C-428F-B606-5858002FE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0184" y="2532888"/>
            <a:ext cx="56692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04D43"/>
                </a:solidFill>
                <a:latin typeface="Aptos"/>
                <a:ea typeface="Aptos"/>
                <a:cs typeface="Aptos"/>
              </a:rPr>
              <a:t>03</a:t>
            </a:r>
            <a:endParaRPr sz="16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2178E9C7-324C-46F4-ACBA-7A223474C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0184" y="3209544"/>
            <a:ext cx="3163824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20" b="1">
                <a:solidFill>
                  <a:srgbClr val="104D43"/>
                </a:solidFill>
                <a:latin typeface="Aptos"/>
                <a:ea typeface="Aptos"/>
                <a:cs typeface="Aptos"/>
              </a:rPr>
              <a:t>POST-INTERVIEW</a:t>
            </a:r>
            <a:endParaRPr sz="162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C590D380-0E79-4B8A-BD76-3C16FA47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0184" y="3685032"/>
            <a:ext cx="3172968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5A706B"/>
                </a:solidFill>
                <a:latin typeface="Aptos"/>
                <a:ea typeface="Aptos"/>
                <a:cs typeface="Aptos"/>
              </a:rPr>
              <a:t>Analyse Q&amp;A evidence and produce a recruiter-reviewable assessment.</a:t>
            </a:r>
            <a:endParaRPr sz="140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3C3B0405-79D4-4812-AADD-8C8D6EA1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266944"/>
            <a:ext cx="11018520" cy="704088"/>
          </a:xfrm>
          <a:prstGeom xmlns:a="http://schemas.openxmlformats.org/drawingml/2006/main" prst="roundRect">
            <a:avLst>
              <a:gd name="adj" fmla="val 20779"/>
            </a:avLst>
          </a:prstGeom>
          <a:solidFill xmlns:a="http://schemas.openxmlformats.org/drawingml/2006/main">
            <a:srgbClr val="ECF6F1"/>
          </a:solidFill>
          <a:ln xmlns:a="http://schemas.openxmlformats.org/drawingml/2006/main" w="12700">
            <a:solidFill>
              <a:srgbClr val="ECF6F1">
                <a:alpha val="0"/>
              </a:srgbClr>
            </a:solidFill>
            <a:prstDash val="solid"/>
          </a:ln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4394413C-0B78-419A-8F7A-FB11061B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513832"/>
            <a:ext cx="1463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 spc="110">
                <a:solidFill>
                  <a:srgbClr val="197C6A"/>
                </a:solidFill>
                <a:latin typeface="Aptos"/>
                <a:ea typeface="Aptos"/>
                <a:cs typeface="Aptos"/>
              </a:rPr>
              <a:t>POSITIONING</a:t>
            </a:r>
            <a:endParaRPr sz="11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7431EC68-4DAE-445B-A394-EB619EF6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152" y="5440680"/>
            <a:ext cx="894283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20" b="1">
                <a:solidFill>
                  <a:srgbClr val="104D43"/>
                </a:solidFill>
                <a:latin typeface="Aptos"/>
                <a:ea typeface="Aptos"/>
                <a:cs typeface="Aptos"/>
              </a:rPr>
              <a:t>The AI supports the recruiter; the recruiter retains the final judgment.</a:t>
            </a:r>
            <a:endParaRPr sz="1520"/>
          </a:p>
        </p:txBody>
      </p:sp>
    </p:spTree>
    <p:extLst>
      <p:ext uri="{BB962C8B-B14F-4D97-AF65-F5344CB8AC3E}">
        <p14:creationId xmlns:p14="http://schemas.microsoft.com/office/powerpoint/2010/main" val="7303621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F0BDC00-7821-4BAD-8F9B-502C4A0D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F7FAF8"/>
          </a:solidFill>
          <a:ln xmlns:a="http://schemas.openxmlformats.org/drawingml/2006/main" w="12700">
            <a:solidFill>
              <a:srgbClr val="F7FAF8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07DC370-673E-407C-8763-C5287F39D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2296" cy="6858000"/>
          </a:xfrm>
          <a:prstGeom xmlns:a="http://schemas.openxmlformats.org/drawingml/2006/main" prst="roundRect">
            <a:avLst>
              <a:gd name="adj" fmla="val 177778"/>
            </a:avLst>
          </a:prstGeom>
          <a:solidFill xmlns:a="http://schemas.openxmlformats.org/drawingml/2006/main">
            <a:srgbClr val="104D43"/>
          </a:solidFill>
          <a:ln xmlns:a="http://schemas.openxmlformats.org/drawingml/2006/main" w="12700">
            <a:solidFill>
              <a:srgbClr val="104D43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08F2563-F95E-41CD-8207-71A42F0C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393192" cy="393192"/>
          </a:xfrm>
          <a:prstGeom xmlns:a="http://schemas.openxmlformats.org/drawingml/2006/main" prst="roundRect">
            <a:avLst>
              <a:gd name="adj" fmla="val 23256"/>
            </a:avLst>
          </a:prstGeom>
          <a:solidFill xmlns:a="http://schemas.openxmlformats.org/drawingml/2006/main">
            <a:srgbClr val="197C6A"/>
          </a:solidFill>
          <a:ln xmlns:a="http://schemas.openxmlformats.org/drawingml/2006/main" w="12700">
            <a:solidFill>
              <a:srgbClr val="197C6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AC1873C-04E8-4739-AFDB-6FB45BB3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4904"/>
            <a:ext cx="39319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</a:t>
            </a:r>
            <a:endParaRPr sz="2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043A08D-A68E-4D4B-AEAA-F5B7CBD5D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" y="374904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 spc="90">
                <a:solidFill>
                  <a:srgbClr val="104D43"/>
                </a:solidFill>
                <a:latin typeface="Aptos"/>
                <a:ea typeface="Aptos"/>
                <a:cs typeface="Aptos"/>
              </a:rPr>
              <a:t>TALENTTRACE AI</a:t>
            </a:r>
            <a:endParaRPr sz="12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24B2055-4398-498D-B07F-E0495A10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402336"/>
            <a:ext cx="23774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30" b="1" spc="100">
                <a:solidFill>
                  <a:srgbClr val="5A706B"/>
                </a:solidFill>
                <a:latin typeface="Aptos"/>
                <a:ea typeface="Aptos"/>
                <a:cs typeface="Aptos"/>
              </a:rPr>
              <a:t>WHY IT MATTERS</a:t>
            </a:r>
            <a:endParaRPr sz="103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2E8ECD4-8C59-4126-A5EC-B6A46932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77824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CE7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FB59477-0B69-4CCA-8F50-C91D7191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1060704"/>
            <a:ext cx="1106424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50" b="1">
                <a:solidFill>
                  <a:srgbClr val="104D43"/>
                </a:solidFill>
                <a:latin typeface="Aptos"/>
                <a:ea typeface="Aptos"/>
                <a:cs typeface="Aptos"/>
              </a:rPr>
              <a:t>Problem statement</a:t>
            </a:r>
            <a:endParaRPr sz="27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54A9D45-8C54-46CD-A82B-4B2AF7AD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18488"/>
            <a:ext cx="10881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5A706B"/>
                </a:solidFill>
                <a:latin typeface="Aptos"/>
                <a:ea typeface="Aptos"/>
                <a:cs typeface="Aptos"/>
              </a:rPr>
              <a:t>Hiring volume and fragmented evidence make consistent assessment difficult.</a:t>
            </a:r>
            <a:endParaRPr sz="14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A42CEAF-8D51-4439-84FC-FC27DD96F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446520"/>
            <a:ext cx="111282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DCE7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6417E40-6F6F-48FD-8555-06C57C4B2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6519672"/>
            <a:ext cx="7863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900">
                <a:solidFill>
                  <a:srgbClr val="8C9A97"/>
                </a:solidFill>
                <a:latin typeface="Aptos"/>
                <a:ea typeface="Aptos"/>
                <a:cs typeface="Aptos"/>
              </a:rPr>
              <a:t>AI Trainee Programme  /  BJIT final project  /  October 2026</a:t>
            </a:r>
            <a:endParaRPr sz="90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416D0FE-E672-4A88-ADA8-2E43E79AB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4472" y="6519672"/>
            <a:ext cx="9601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30">
                <a:solidFill>
                  <a:srgbClr val="8C9A97"/>
                </a:solidFill>
                <a:latin typeface="Aptos"/>
                <a:ea typeface="Aptos"/>
                <a:cs typeface="Aptos"/>
              </a:rPr>
              <a:t>03 / 18</a:t>
            </a:r>
            <a:endParaRPr sz="93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8692498-E03C-4608-A183-05A2DEE09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167128"/>
            <a:ext cx="3675888" cy="1408176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7E2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0CFA40BA-5B08-4305-BE24-3AD0A8BE8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350008"/>
            <a:ext cx="310896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12700">
            <a:solidFill>
              <a:srgbClr val="FFF5DF">
                <a:alpha val="0"/>
              </a:srgbClr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746E9B6-1FD0-4151-84D8-E9FB8553B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2331720"/>
            <a:ext cx="288036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30" b="1">
                <a:solidFill>
                  <a:srgbClr val="193D38"/>
                </a:solidFill>
                <a:latin typeface="Aptos"/>
                <a:ea typeface="Aptos"/>
                <a:cs typeface="Aptos"/>
              </a:rPr>
              <a:t>High CV volume</a:t>
            </a:r>
            <a:endParaRPr sz="163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5D6E5F1D-D6AC-4EEF-B86C-EC0E8DEE4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798064"/>
            <a:ext cx="3236976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5A706B"/>
                </a:solidFill>
                <a:latin typeface="Aptos"/>
                <a:ea typeface="Aptos"/>
                <a:cs typeface="Aptos"/>
              </a:rPr>
              <a:t>Reviewing every application manually is slow and difficult to scale.</a:t>
            </a:r>
            <a:endParaRPr sz="12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0FADCEBA-38A0-4098-86CE-DA154240A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272" y="2167128"/>
            <a:ext cx="3675888" cy="1408176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7E2"/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F1CC8717-62DE-4995-9A4C-B55F3AEC3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2350008"/>
            <a:ext cx="310896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CF0E7"/>
          </a:solidFill>
          <a:ln xmlns:a="http://schemas.openxmlformats.org/drawingml/2006/main" w="12700">
            <a:solidFill>
              <a:srgbClr val="DCF0E7">
                <a:alpha val="0"/>
              </a:srgbClr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21024924-A65E-418C-A7BD-CF8E70F6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331720"/>
            <a:ext cx="288036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30" b="1">
                <a:solidFill>
                  <a:srgbClr val="193D38"/>
                </a:solidFill>
                <a:latin typeface="Aptos"/>
                <a:ea typeface="Aptos"/>
                <a:cs typeface="Aptos"/>
              </a:rPr>
              <a:t>Inconsistent judgments</a:t>
            </a:r>
            <a:endParaRPr sz="163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91ACB0A-2A01-4A2B-B700-EC9E93E39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584" y="2798064"/>
            <a:ext cx="3236976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5A706B"/>
                </a:solidFill>
                <a:latin typeface="Aptos"/>
                <a:ea typeface="Aptos"/>
                <a:cs typeface="Aptos"/>
              </a:rPr>
              <a:t>Different reviewers may apply different standards to similar candidates.</a:t>
            </a:r>
            <a:endParaRPr sz="12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7A767519-1C8C-4C88-94D8-AC1622C8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94760"/>
            <a:ext cx="3675888" cy="1408176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7E2"/>
            </a:solidFill>
            <a:prstDash val="solid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A39A50D9-6807-4821-89A0-2BB87B0B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977640"/>
            <a:ext cx="310896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CF0E7"/>
          </a:solidFill>
          <a:ln xmlns:a="http://schemas.openxmlformats.org/drawingml/2006/main" w="12700">
            <a:solidFill>
              <a:srgbClr val="DCF0E7">
                <a:alpha val="0"/>
              </a:srgbClr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114C584-E744-44F1-A384-2E7092D2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3959352"/>
            <a:ext cx="288036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30" b="1">
                <a:solidFill>
                  <a:srgbClr val="193D38"/>
                </a:solidFill>
                <a:latin typeface="Aptos"/>
                <a:ea typeface="Aptos"/>
                <a:cs typeface="Aptos"/>
              </a:rPr>
              <a:t>Unstructured interviews</a:t>
            </a:r>
            <a:endParaRPr sz="163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50255AA2-3501-40DA-9A9E-BA13C392D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425696"/>
            <a:ext cx="3236976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5A706B"/>
                </a:solidFill>
                <a:latin typeface="Aptos"/>
                <a:ea typeface="Aptos"/>
                <a:cs typeface="Aptos"/>
              </a:rPr>
              <a:t>Interview evidence can remain in scattered notes instead of searchable records.</a:t>
            </a:r>
            <a:endParaRPr sz="125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1BE9124B-189F-4442-9AD9-DDEE6EFE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272" y="3794760"/>
            <a:ext cx="3675888" cy="1408176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7E2"/>
            </a:solidFill>
            <a:prstDash val="solid"/>
          </a:ln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B4C3A3CB-9450-4675-A1B1-2AB20228B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3977640"/>
            <a:ext cx="310896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9EDE9"/>
          </a:solidFill>
          <a:ln xmlns:a="http://schemas.openxmlformats.org/drawingml/2006/main" w="12700">
            <a:solidFill>
              <a:srgbClr val="F9EDE9">
                <a:alpha val="0"/>
              </a:srgbClr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0A642C85-0311-453A-A7D7-A662F94F1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959352"/>
            <a:ext cx="288036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30" b="1">
                <a:solidFill>
                  <a:srgbClr val="193D38"/>
                </a:solidFill>
                <a:latin typeface="Aptos"/>
                <a:ea typeface="Aptos"/>
                <a:cs typeface="Aptos"/>
              </a:rPr>
              <a:t>Opaque decisions</a:t>
            </a:r>
            <a:endParaRPr sz="163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3293B382-1E3B-4421-91C2-E331B7F5D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584" y="4425696"/>
            <a:ext cx="3236976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5A706B"/>
                </a:solidFill>
                <a:latin typeface="Aptos"/>
                <a:ea typeface="Aptos"/>
                <a:cs typeface="Aptos"/>
              </a:rPr>
              <a:t>Scores and recommendations are hard to defend without traceable sources.</a:t>
            </a:r>
            <a:endParaRPr sz="125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377CDF0A-E836-45D2-B08B-99EFD0096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208" y="2167128"/>
            <a:ext cx="3054096" cy="3026664"/>
          </a:xfrm>
          <a:prstGeom xmlns:a="http://schemas.openxmlformats.org/drawingml/2006/main" prst="roundRect">
            <a:avLst>
              <a:gd name="adj" fmla="val 5438"/>
            </a:avLst>
          </a:prstGeom>
          <a:solidFill xmlns:a="http://schemas.openxmlformats.org/drawingml/2006/main">
            <a:srgbClr val="104D43"/>
          </a:solidFill>
          <a:ln xmlns:a="http://schemas.openxmlformats.org/drawingml/2006/main" w="12700">
            <a:solidFill>
              <a:srgbClr val="104D43">
                <a:alpha val="0"/>
              </a:srgbClr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D7498054-7674-4074-954D-E806A510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7384" y="2496312"/>
            <a:ext cx="2514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50" b="1">
                <a:solidFill>
                  <a:srgbClr val="C5E6DB"/>
                </a:solidFill>
                <a:latin typeface="Aptos"/>
                <a:ea typeface="Aptos"/>
                <a:cs typeface="Aptos"/>
              </a:rPr>
              <a:t>THE DESIGN RESPONSE</a:t>
            </a:r>
            <a:endParaRPr sz="145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77F84E05-B3AA-4A8C-9D78-B149364CA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7384" y="2916936"/>
            <a:ext cx="24871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5FA091"/>
            </a:solidFill>
            <a:prstDash val="solid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0A02D241-EB40-46CA-81C1-1AE01D43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3191256"/>
            <a:ext cx="2532888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Structured inputs</a:t>
            </a:r>
            <a:endParaRPr sz="170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433ADF6E-E700-434D-B558-37C046B0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0072" y="3602736"/>
            <a:ext cx="64008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 b="1">
                <a:solidFill>
                  <a:srgbClr val="F1B84B"/>
                </a:solidFill>
                <a:latin typeface="Aptos"/>
                <a:ea typeface="Aptos"/>
                <a:cs typeface="Aptos"/>
              </a:rPr>
              <a:t>→</a:t>
            </a:r>
            <a:endParaRPr sz="26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2103CAE-1691-4BB8-83A9-FC5BF0F3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808" y="4014216"/>
            <a:ext cx="253288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Explainable analysis</a:t>
            </a:r>
            <a:endParaRPr sz="170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9E47E0CB-9D71-4C71-8AC4-6716F410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0072" y="4370832"/>
            <a:ext cx="64008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 b="1">
                <a:solidFill>
                  <a:srgbClr val="F1B84B"/>
                </a:solidFill>
                <a:latin typeface="Aptos"/>
                <a:ea typeface="Aptos"/>
                <a:cs typeface="Aptos"/>
              </a:rPr>
              <a:t>→</a:t>
            </a:r>
            <a:endParaRPr sz="260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F42FE413-003D-4E5F-B9BF-984AD199C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808" y="4709160"/>
            <a:ext cx="253288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Human review</a:t>
            </a:r>
            <a:endParaRPr sz="1700"/>
          </a:p>
        </p:txBody>
      </p:sp>
    </p:spTree>
    <p:extLst>
      <p:ext uri="{BB962C8B-B14F-4D97-AF65-F5344CB8AC3E}">
        <p14:creationId xmlns:p14="http://schemas.microsoft.com/office/powerpoint/2010/main" val="56560901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6473CED-A085-48C5-AE7B-13DC59A8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F7FAF8"/>
          </a:solidFill>
          <a:ln xmlns:a="http://schemas.openxmlformats.org/drawingml/2006/main" w="12700">
            <a:solidFill>
              <a:srgbClr val="F7FAF8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ECBD31C-3948-4530-AE8D-3360C34F6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2296" cy="6858000"/>
          </a:xfrm>
          <a:prstGeom xmlns:a="http://schemas.openxmlformats.org/drawingml/2006/main" prst="roundRect">
            <a:avLst>
              <a:gd name="adj" fmla="val 177778"/>
            </a:avLst>
          </a:prstGeom>
          <a:solidFill xmlns:a="http://schemas.openxmlformats.org/drawingml/2006/main">
            <a:srgbClr val="104D43"/>
          </a:solidFill>
          <a:ln xmlns:a="http://schemas.openxmlformats.org/drawingml/2006/main" w="12700">
            <a:solidFill>
              <a:srgbClr val="104D43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74903D2-AE01-4930-936E-994059A1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393192" cy="393192"/>
          </a:xfrm>
          <a:prstGeom xmlns:a="http://schemas.openxmlformats.org/drawingml/2006/main" prst="roundRect">
            <a:avLst>
              <a:gd name="adj" fmla="val 23256"/>
            </a:avLst>
          </a:prstGeom>
          <a:solidFill xmlns:a="http://schemas.openxmlformats.org/drawingml/2006/main">
            <a:srgbClr val="197C6A"/>
          </a:solidFill>
          <a:ln xmlns:a="http://schemas.openxmlformats.org/drawingml/2006/main" w="12700">
            <a:solidFill>
              <a:srgbClr val="197C6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AD8B15A-B824-4E7B-A496-856AD726A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4904"/>
            <a:ext cx="39319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</a:t>
            </a:r>
            <a:endParaRPr sz="2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20FBFAF-3551-4BB0-AE99-59681958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" y="374904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 spc="90">
                <a:solidFill>
                  <a:srgbClr val="104D43"/>
                </a:solidFill>
                <a:latin typeface="Aptos"/>
                <a:ea typeface="Aptos"/>
                <a:cs typeface="Aptos"/>
              </a:rPr>
              <a:t>TALENTTRACE AI</a:t>
            </a:r>
            <a:endParaRPr sz="12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45DD3DD-F716-4CF8-82E1-F12C4F781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402336"/>
            <a:ext cx="23774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30" b="1" spc="100">
                <a:solidFill>
                  <a:srgbClr val="5A706B"/>
                </a:solidFill>
                <a:latin typeface="Aptos"/>
                <a:ea typeface="Aptos"/>
                <a:cs typeface="Aptos"/>
              </a:rPr>
              <a:t>SUCCESS CRITERIA</a:t>
            </a:r>
            <a:endParaRPr sz="103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BB7BD286-70AE-483A-93FF-F2B97B9C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77824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CE7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91D4AF8-637B-42AE-8635-B6FD37775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1060704"/>
            <a:ext cx="1106424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50" b="1">
                <a:solidFill>
                  <a:srgbClr val="104D43"/>
                </a:solidFill>
                <a:latin typeface="Aptos"/>
                <a:ea typeface="Aptos"/>
                <a:cs typeface="Aptos"/>
              </a:rPr>
              <a:t>Project objectives</a:t>
            </a:r>
            <a:endParaRPr sz="27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9C439F0-2A25-483B-891B-50A67E792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18488"/>
            <a:ext cx="10881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275"/>
            </a:defPPr>
            <a:lvl1pPr>
              <a:buNone/>
              <a:defRPr sz="1275"/>
            </a:lvl1pPr>
            <a:lvl2pPr>
              <a:buNone/>
              <a:defRPr sz="1275"/>
            </a:lvl2pPr>
            <a:lvl3pPr>
              <a:buNone/>
              <a:defRPr sz="1275"/>
            </a:lvl3pPr>
            <a:lvl4pPr>
              <a:buNone/>
              <a:defRPr sz="1275"/>
            </a:lvl4pPr>
            <a:lvl5pPr>
              <a:buNone/>
              <a:defRPr sz="1275"/>
            </a:lvl5pPr>
            <a:lvl6pPr>
              <a:buNone/>
              <a:defRPr sz="1275"/>
            </a:lvl6pPr>
            <a:lvl7pPr>
              <a:buNone/>
              <a:defRPr sz="1275"/>
            </a:lvl7pPr>
            <a:lvl8pPr>
              <a:buNone/>
              <a:defRPr sz="1275"/>
            </a:lvl8pPr>
            <a:lvl9pPr>
              <a:buNone/>
              <a:defRPr sz="1275"/>
            </a:lvl9pPr>
          </a:lstStyle>
          <a:p xmlns:a="http://schemas.openxmlformats.org/drawingml/2006/main">
            <a:pPr marL="0" indent="0" algn="l">
              <a:buNone/>
            </a:pPr>
            <a:r>
              <a:rPr sz="1275">
                <a:solidFill>
                  <a:srgbClr val="5A706B"/>
                </a:solidFill>
                <a:latin typeface="Aptos"/>
                <a:ea typeface="Aptos"/>
                <a:cs typeface="Aptos"/>
              </a:rPr>
              <a:t>Intended outcomes. Acceptance results and remaining gaps appear later in this deck.</a:t>
            </a:r>
            <a:endParaRPr sz="14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666E218E-889F-48D3-A0D6-2DA5B739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446520"/>
            <a:ext cx="111282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DCE7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5F03D13-07FA-4E40-85F4-E556924BA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6519672"/>
            <a:ext cx="7863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900">
                <a:solidFill>
                  <a:srgbClr val="8C9A97"/>
                </a:solidFill>
                <a:latin typeface="Aptos"/>
                <a:ea typeface="Aptos"/>
                <a:cs typeface="Aptos"/>
              </a:rPr>
              <a:t>AI Trainee Programme  /  BJIT final project  /  October 2026</a:t>
            </a:r>
            <a:endParaRPr sz="90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4B1964D-2FA0-478E-994F-0E992E2D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4472" y="6519672"/>
            <a:ext cx="9601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30">
                <a:solidFill>
                  <a:srgbClr val="8C9A97"/>
                </a:solidFill>
                <a:latin typeface="Aptos"/>
                <a:ea typeface="Aptos"/>
                <a:cs typeface="Aptos"/>
              </a:rPr>
              <a:t>04 / 18</a:t>
            </a:r>
            <a:endParaRPr sz="93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70D4EB76-DB1F-4E4A-9F63-9ADC2AFC5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048256"/>
            <a:ext cx="594360" cy="493776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DCF0E7"/>
          </a:solidFill>
          <a:ln xmlns:a="http://schemas.openxmlformats.org/drawingml/2006/main" w="12700">
            <a:solidFill>
              <a:srgbClr val="DCF0E7">
                <a:alpha val="0"/>
              </a:srgbClr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640921C-C476-4EEB-AE33-9E7B25F1E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167128"/>
            <a:ext cx="594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04D43"/>
                </a:solidFill>
                <a:latin typeface="Aptos"/>
                <a:ea typeface="Aptos"/>
                <a:cs typeface="Aptos"/>
              </a:rPr>
              <a:t>01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26127CD-6E04-4F96-903C-45D61313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057400"/>
            <a:ext cx="3630168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20" b="1">
                <a:solidFill>
                  <a:srgbClr val="193D38"/>
                </a:solidFill>
                <a:latin typeface="Aptos"/>
                <a:ea typeface="Aptos"/>
                <a:cs typeface="Aptos"/>
              </a:rPr>
              <a:t>Reduce manual screening effort</a:t>
            </a:r>
            <a:endParaRPr sz="152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7B138E0-94D1-4060-97CA-B51D759E2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912" y="2057400"/>
            <a:ext cx="6300216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>
                <a:solidFill>
                  <a:srgbClr val="5A706B"/>
                </a:solidFill>
                <a:latin typeface="Aptos"/>
                <a:ea typeface="Aptos"/>
                <a:cs typeface="Aptos"/>
              </a:rPr>
              <a:t>Screen and rank a CV batch against a job profile.</a:t>
            </a:r>
            <a:endParaRPr sz="13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908290B7-F28F-4F9A-980D-A113C2A2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587752"/>
            <a:ext cx="99852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DCE7E2"/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94ACBB7-394C-4CA9-AF83-1196B602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770632"/>
            <a:ext cx="594360" cy="493776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CF6F1"/>
          </a:solidFill>
          <a:ln xmlns:a="http://schemas.openxmlformats.org/drawingml/2006/main" w="12700">
            <a:solidFill>
              <a:srgbClr val="ECF6F1">
                <a:alpha val="0"/>
              </a:srgbClr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0E86B67-78A3-4298-9D91-343273A75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889504"/>
            <a:ext cx="594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04D43"/>
                </a:solidFill>
                <a:latin typeface="Aptos"/>
                <a:ea typeface="Aptos"/>
                <a:cs typeface="Aptos"/>
              </a:rPr>
              <a:t>02</a:t>
            </a:r>
            <a:endParaRPr sz="13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D3284E4-069C-4DC1-AC8F-3C9F1A196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779776"/>
            <a:ext cx="3630168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20" b="1">
                <a:solidFill>
                  <a:srgbClr val="193D38"/>
                </a:solidFill>
                <a:latin typeface="Aptos"/>
                <a:ea typeface="Aptos"/>
                <a:cs typeface="Aptos"/>
              </a:rPr>
              <a:t>Increase consistency</a:t>
            </a:r>
            <a:endParaRPr sz="152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5C0BB30-0A35-4D80-BFEB-4378B4E8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912" y="2779776"/>
            <a:ext cx="6300216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>
                <a:solidFill>
                  <a:srgbClr val="5A706B"/>
                </a:solidFill>
                <a:latin typeface="Aptos"/>
                <a:ea typeface="Aptos"/>
                <a:cs typeface="Aptos"/>
              </a:rPr>
              <a:t>Use saved, reviewable criteria and a scoring breakdown.</a:t>
            </a:r>
            <a:endParaRPr sz="13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BB4DC338-2BA6-4EAC-B604-6C77A9BB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310128"/>
            <a:ext cx="99852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DCE7E2"/>
            </a:solidFill>
            <a:prstDash val="solid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695BA1D5-FB46-4B82-83C1-147CE3C50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493008"/>
            <a:ext cx="594360" cy="493776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DCF0E7"/>
          </a:solidFill>
          <a:ln xmlns:a="http://schemas.openxmlformats.org/drawingml/2006/main" w="12700">
            <a:solidFill>
              <a:srgbClr val="DCF0E7">
                <a:alpha val="0"/>
              </a:srgbClr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BEDA0B8C-E24C-4785-A480-8A75EBCCB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611880"/>
            <a:ext cx="594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04D43"/>
                </a:solidFill>
                <a:latin typeface="Aptos"/>
                <a:ea typeface="Aptos"/>
                <a:cs typeface="Aptos"/>
              </a:rPr>
              <a:t>03</a:t>
            </a:r>
            <a:endParaRPr sz="13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3C4566F2-528A-481E-BD88-83306E86E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502152"/>
            <a:ext cx="3630168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20" b="1">
                <a:solidFill>
                  <a:srgbClr val="193D38"/>
                </a:solidFill>
                <a:latin typeface="Aptos"/>
                <a:ea typeface="Aptos"/>
                <a:cs typeface="Aptos"/>
              </a:rPr>
              <a:t>Structure interview content</a:t>
            </a:r>
            <a:endParaRPr sz="152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2F0F827D-7740-4987-898C-3B3949E6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912" y="3502152"/>
            <a:ext cx="6300216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>
                <a:solidFill>
                  <a:srgbClr val="5A706B"/>
                </a:solidFill>
                <a:latin typeface="Aptos"/>
                <a:ea typeface="Aptos"/>
                <a:cs typeface="Aptos"/>
              </a:rPr>
              <a:t>Capture speaker-labelled, timestamped turns.</a:t>
            </a:r>
            <a:endParaRPr sz="130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1AF65408-AC17-467B-97FB-CF71D30C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032504"/>
            <a:ext cx="99852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DCE7E2"/>
            </a:solidFill>
            <a:prstDash val="solid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CAF6A5D3-8701-46A7-8BBD-4FEF47C8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4215384"/>
            <a:ext cx="594360" cy="493776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CF6F1"/>
          </a:solidFill>
          <a:ln xmlns:a="http://schemas.openxmlformats.org/drawingml/2006/main" w="12700">
            <a:solidFill>
              <a:srgbClr val="ECF6F1">
                <a:alpha val="0"/>
              </a:srgbClr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DB8017C9-3908-4FAC-B869-D0D3A7F4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4334256"/>
            <a:ext cx="594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04D43"/>
                </a:solidFill>
                <a:latin typeface="Aptos"/>
                <a:ea typeface="Aptos"/>
                <a:cs typeface="Aptos"/>
              </a:rPr>
              <a:t>04</a:t>
            </a:r>
            <a:endParaRPr sz="13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5E9E8B7F-93F3-4525-AEAF-58C478CC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224528"/>
            <a:ext cx="3630168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20" b="1">
                <a:solidFill>
                  <a:srgbClr val="193D38"/>
                </a:solidFill>
                <a:latin typeface="Aptos"/>
                <a:ea typeface="Aptos"/>
                <a:cs typeface="Aptos"/>
              </a:rPr>
              <a:t>Make assessments defensible</a:t>
            </a:r>
            <a:endParaRPr sz="152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725EA166-B9D4-4BCE-BC20-7266A593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912" y="4224528"/>
            <a:ext cx="6300216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>
                <a:solidFill>
                  <a:srgbClr val="5A706B"/>
                </a:solidFill>
                <a:latin typeface="Aptos"/>
                <a:ea typeface="Aptos"/>
                <a:cs typeface="Aptos"/>
              </a:rPr>
              <a:t>Link conclusions to CV pages and interview segments.</a:t>
            </a:r>
            <a:endParaRPr sz="130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59E10B92-36A0-4D00-9898-0783F12B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754880"/>
            <a:ext cx="99852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DCE7E2"/>
            </a:solidFill>
            <a:prstDash val="solid"/>
          </a:ln>
        </p:spPr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1EA42DC9-ABE5-48CC-AB10-B64976E7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4937760"/>
            <a:ext cx="594360" cy="493776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DCF0E7"/>
          </a:solidFill>
          <a:ln xmlns:a="http://schemas.openxmlformats.org/drawingml/2006/main" w="12700">
            <a:solidFill>
              <a:srgbClr val="DCF0E7">
                <a:alpha val="0"/>
              </a:srgbClr>
            </a:solidFill>
            <a:prstDash val="solid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B1715E6E-0122-4104-83CF-38E60FE4F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5056632"/>
            <a:ext cx="594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04D43"/>
                </a:solidFill>
                <a:latin typeface="Aptos"/>
                <a:ea typeface="Aptos"/>
                <a:cs typeface="Aptos"/>
              </a:rPr>
              <a:t>05</a:t>
            </a:r>
            <a:endParaRPr sz="130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6C897FC7-2102-46AA-99B0-645B9C216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946904"/>
            <a:ext cx="3630168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20" b="1">
                <a:solidFill>
                  <a:srgbClr val="193D38"/>
                </a:solidFill>
                <a:latin typeface="Aptos"/>
                <a:ea typeface="Aptos"/>
                <a:cs typeface="Aptos"/>
              </a:rPr>
              <a:t>Support faster decisions</a:t>
            </a:r>
            <a:endParaRPr sz="152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138F211E-7609-4CE9-8FF1-33E14513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912" y="4946904"/>
            <a:ext cx="6300216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>
                <a:solidFill>
                  <a:srgbClr val="5A706B"/>
                </a:solidFill>
                <a:latin typeface="Aptos"/>
                <a:ea typeface="Aptos"/>
                <a:cs typeface="Aptos"/>
              </a:rPr>
              <a:t>Bring pre- and post-interview evidence into one report.</a:t>
            </a:r>
            <a:endParaRPr sz="1300"/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0EF654AF-2250-4546-BEFE-66B0E8671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5477256"/>
            <a:ext cx="99852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DCE7E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561082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2E7CA8B-6899-4434-8FF2-B07FCD3B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F7FAF8"/>
          </a:solidFill>
          <a:ln xmlns:a="http://schemas.openxmlformats.org/drawingml/2006/main" w="12700">
            <a:solidFill>
              <a:srgbClr val="F7FAF8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DE056D-CA2B-4DB2-8BE8-D99A68FE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2296" cy="6858000"/>
          </a:xfrm>
          <a:prstGeom xmlns:a="http://schemas.openxmlformats.org/drawingml/2006/main" prst="roundRect">
            <a:avLst>
              <a:gd name="adj" fmla="val 177778"/>
            </a:avLst>
          </a:prstGeom>
          <a:solidFill xmlns:a="http://schemas.openxmlformats.org/drawingml/2006/main">
            <a:srgbClr val="104D43"/>
          </a:solidFill>
          <a:ln xmlns:a="http://schemas.openxmlformats.org/drawingml/2006/main" w="12700">
            <a:solidFill>
              <a:srgbClr val="104D43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9099431-7C0E-4F08-B892-6A805DF4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393192" cy="393192"/>
          </a:xfrm>
          <a:prstGeom xmlns:a="http://schemas.openxmlformats.org/drawingml/2006/main" prst="roundRect">
            <a:avLst>
              <a:gd name="adj" fmla="val 23256"/>
            </a:avLst>
          </a:prstGeom>
          <a:solidFill xmlns:a="http://schemas.openxmlformats.org/drawingml/2006/main">
            <a:srgbClr val="197C6A"/>
          </a:solidFill>
          <a:ln xmlns:a="http://schemas.openxmlformats.org/drawingml/2006/main" w="12700">
            <a:solidFill>
              <a:srgbClr val="197C6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1E616BF-2608-4A2A-9483-E6169E190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4904"/>
            <a:ext cx="39319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</a:t>
            </a:r>
            <a:endParaRPr sz="2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5072B63-DE4D-4A55-BBC5-9812977C0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" y="374904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 spc="90">
                <a:solidFill>
                  <a:srgbClr val="104D43"/>
                </a:solidFill>
                <a:latin typeface="Aptos"/>
                <a:ea typeface="Aptos"/>
                <a:cs typeface="Aptos"/>
              </a:rPr>
              <a:t>TALENTTRACE AI</a:t>
            </a:r>
            <a:endParaRPr sz="12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D24C651-AB62-49C7-832C-3A916729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402336"/>
            <a:ext cx="23774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30" b="1" spc="100">
                <a:solidFill>
                  <a:srgbClr val="5A706B"/>
                </a:solidFill>
                <a:latin typeface="Aptos"/>
                <a:ea typeface="Aptos"/>
                <a:cs typeface="Aptos"/>
              </a:rPr>
              <a:t>CORE F1–F6 + INNOVATION</a:t>
            </a:r>
            <a:endParaRPr sz="103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8701B3B8-B9FF-4BBF-8D31-66BE678E9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77824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CE7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B859027-7AE0-4AD8-9BA7-C121EB3E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1060704"/>
            <a:ext cx="1106424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50" b="1">
                <a:solidFill>
                  <a:srgbClr val="104D43"/>
                </a:solidFill>
                <a:latin typeface="Aptos"/>
                <a:ea typeface="Aptos"/>
                <a:cs typeface="Aptos"/>
              </a:rPr>
              <a:t>Key functionalities</a:t>
            </a:r>
            <a:endParaRPr sz="27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46E75C6-9796-4C0E-8808-20BE1324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18488"/>
            <a:ext cx="10881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5A706B"/>
                </a:solidFill>
                <a:latin typeface="Aptos"/>
                <a:ea typeface="Aptos"/>
                <a:cs typeface="Aptos"/>
              </a:rPr>
              <a:t>Implemented capabilities with clearly identified acceptance boundaries.</a:t>
            </a:r>
            <a:endParaRPr sz="14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B6A25E8C-5764-4038-A7CB-F0201EE4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446520"/>
            <a:ext cx="111282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DCE7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DD96AD3-5FFD-49CD-AA7E-E72A62C3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6519672"/>
            <a:ext cx="7863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900">
                <a:solidFill>
                  <a:srgbClr val="8C9A97"/>
                </a:solidFill>
                <a:latin typeface="Aptos"/>
                <a:ea typeface="Aptos"/>
                <a:cs typeface="Aptos"/>
              </a:rPr>
              <a:t>AI Trainee Programme  /  BJIT final project  /  October 2026</a:t>
            </a:r>
            <a:endParaRPr sz="90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2105AF1-7D41-4838-9EBF-942EEE02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4472" y="6519672"/>
            <a:ext cx="9601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30">
                <a:solidFill>
                  <a:srgbClr val="8C9A97"/>
                </a:solidFill>
                <a:latin typeface="Aptos"/>
                <a:ea typeface="Aptos"/>
                <a:cs typeface="Aptos"/>
              </a:rPr>
              <a:t>05 / 18</a:t>
            </a:r>
            <a:endParaRPr sz="93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B9AFEBD9-3D9A-4F15-9A4E-69C6DAB57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48256"/>
            <a:ext cx="3648456" cy="155448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7E2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E0683E5-4037-4C45-B6B6-D39C4BDB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203704"/>
            <a:ext cx="539496" cy="393192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104D43"/>
          </a:solidFill>
          <a:ln xmlns:a="http://schemas.openxmlformats.org/drawingml/2006/main" w="12700">
            <a:solidFill>
              <a:srgbClr val="104D43">
                <a:alpha val="0"/>
              </a:srgbClr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8BEAD34-E03F-42AE-B85B-890A19FD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276856"/>
            <a:ext cx="53949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F1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E600E17-DA2E-42A5-A28B-57C12BF3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744" y="2194560"/>
            <a:ext cx="2633472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40" b="1">
                <a:solidFill>
                  <a:srgbClr val="193D38"/>
                </a:solidFill>
                <a:latin typeface="Aptos"/>
                <a:ea typeface="Aptos"/>
                <a:cs typeface="Aptos"/>
              </a:rPr>
              <a:t>CV screening &amp; ranking</a:t>
            </a:r>
            <a:endParaRPr sz="144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C6CC741-1509-4285-BF68-DD50790A2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688336"/>
            <a:ext cx="321868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30">
                <a:solidFill>
                  <a:srgbClr val="5A706B"/>
                </a:solidFill>
                <a:latin typeface="Aptos"/>
                <a:ea typeface="Aptos"/>
                <a:cs typeface="Aptos"/>
              </a:rPr>
              <a:t>Groq-assisted extraction, OCR, job-specific comparison.</a:t>
            </a:r>
            <a:endParaRPr sz="113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A02228E7-F17C-4EC2-8006-DAE893AF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3200400"/>
            <a:ext cx="1956816" cy="274320"/>
          </a:xfrm>
          <a:prstGeom xmlns:a="http://schemas.openxmlformats.org/drawingml/2006/main" prst="roundRect">
            <a:avLst>
              <a:gd name="adj" fmla="val 60000"/>
            </a:avLst>
          </a:prstGeom>
          <a:solidFill xmlns:a="http://schemas.openxmlformats.org/drawingml/2006/main">
            <a:srgbClr val="DCF0E7"/>
          </a:solidFill>
          <a:ln xmlns:a="http://schemas.openxmlformats.org/drawingml/2006/main" w="12700">
            <a:solidFill>
              <a:srgbClr val="DCF0E7">
                <a:alpha val="0"/>
              </a:srgbClr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0DDECDD-E165-4D98-98D7-468F60217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241548"/>
            <a:ext cx="1792224" cy="1920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30" b="1">
                <a:solidFill>
                  <a:srgbClr val="104D43"/>
                </a:solidFill>
                <a:latin typeface="Aptos"/>
                <a:ea typeface="Aptos"/>
                <a:cs typeface="Aptos"/>
              </a:rPr>
              <a:t>Real synthetic tests</a:t>
            </a:r>
            <a:endParaRPr sz="93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8D28EBD1-CB9A-49A6-BB3A-9673AF30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2048256"/>
            <a:ext cx="3648456" cy="155448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7E2"/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8BC0E166-150D-4CF5-B06A-4D5117B0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712" y="2203704"/>
            <a:ext cx="539496" cy="393192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104D43"/>
          </a:solidFill>
          <a:ln xmlns:a="http://schemas.openxmlformats.org/drawingml/2006/main" w="12700">
            <a:solidFill>
              <a:srgbClr val="104D43">
                <a:alpha val="0"/>
              </a:srgbClr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84EEBDD-6D21-4A17-9BC8-1EC8AD41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712" y="2276856"/>
            <a:ext cx="53949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F2</a:t>
            </a:r>
            <a:endParaRPr sz="12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6E89923A-013E-42A3-B5B8-D281B654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2936" y="2194560"/>
            <a:ext cx="2633472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40" b="1">
                <a:solidFill>
                  <a:srgbClr val="193D38"/>
                </a:solidFill>
                <a:latin typeface="Aptos"/>
                <a:ea typeface="Aptos"/>
                <a:cs typeface="Aptos"/>
              </a:rPr>
              <a:t>Weighted candidate scoring</a:t>
            </a:r>
            <a:endParaRPr sz="144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F48581C0-2379-47E5-BC79-8BBE55E8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88336"/>
            <a:ext cx="321868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30">
                <a:solidFill>
                  <a:srgbClr val="5A706B"/>
                </a:solidFill>
                <a:latin typeface="Aptos"/>
                <a:ea typeface="Aptos"/>
                <a:cs typeface="Aptos"/>
              </a:rPr>
              <a:t>Criteria, saved scores, breakdown and evidence.</a:t>
            </a:r>
            <a:endParaRPr sz="113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E5E88F14-DA86-406E-B3E9-F3F73AA9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144" y="3200400"/>
            <a:ext cx="1956816" cy="274320"/>
          </a:xfrm>
          <a:prstGeom xmlns:a="http://schemas.openxmlformats.org/drawingml/2006/main" prst="roundRect">
            <a:avLst>
              <a:gd name="adj" fmla="val 60000"/>
            </a:avLst>
          </a:prstGeom>
          <a:solidFill xmlns:a="http://schemas.openxmlformats.org/drawingml/2006/main">
            <a:srgbClr val="DCF0E7"/>
          </a:solidFill>
          <a:ln xmlns:a="http://schemas.openxmlformats.org/drawingml/2006/main" w="12700">
            <a:solidFill>
              <a:srgbClr val="DCF0E7">
                <a:alpha val="0"/>
              </a:srgbClr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13D18E91-A779-4161-9FBF-4B7075D6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241548"/>
            <a:ext cx="1792224" cy="1920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30" b="1">
                <a:solidFill>
                  <a:srgbClr val="104D43"/>
                </a:solidFill>
                <a:latin typeface="Aptos"/>
                <a:ea typeface="Aptos"/>
                <a:cs typeface="Aptos"/>
              </a:rPr>
              <a:t>Real synthetic tests</a:t>
            </a:r>
            <a:endParaRPr sz="93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A1FFF9AD-38E6-4E1C-9557-07EB57410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312" y="2048256"/>
            <a:ext cx="3648456" cy="155448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7E2"/>
            </a:solidFill>
            <a:prstDash val="solid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4E50068F-AD23-4BB5-9995-2E48F125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2203704"/>
            <a:ext cx="539496" cy="393192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104D43"/>
          </a:solidFill>
          <a:ln xmlns:a="http://schemas.openxmlformats.org/drawingml/2006/main" w="12700">
            <a:solidFill>
              <a:srgbClr val="104D43">
                <a:alpha val="0"/>
              </a:srgbClr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7D39663A-ACD3-458D-90B6-166099DF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2276856"/>
            <a:ext cx="53949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F3</a:t>
            </a:r>
            <a:endParaRPr sz="12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1AC5BC9E-4987-4570-84BF-FAB8EBF3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5128" y="2194560"/>
            <a:ext cx="2633472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40" b="1">
                <a:solidFill>
                  <a:srgbClr val="193D38"/>
                </a:solidFill>
                <a:latin typeface="Aptos"/>
                <a:ea typeface="Aptos"/>
                <a:cs typeface="Aptos"/>
              </a:rPr>
              <a:t>Live video interview</a:t>
            </a:r>
            <a:endParaRPr sz="144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921B0917-B587-4DF4-AE3C-204456057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2688336"/>
            <a:ext cx="321868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30">
                <a:solidFill>
                  <a:srgbClr val="5A706B"/>
                </a:solidFill>
                <a:latin typeface="Aptos"/>
                <a:ea typeface="Aptos"/>
                <a:cs typeface="Aptos"/>
              </a:rPr>
              <a:t>Recruiter/candidate access, scoped LiveKit media.</a:t>
            </a:r>
            <a:endParaRPr sz="113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B4C4AF04-4732-404E-A94E-283D9DCBD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3336" y="3200400"/>
            <a:ext cx="1956816" cy="274320"/>
          </a:xfrm>
          <a:prstGeom xmlns:a="http://schemas.openxmlformats.org/drawingml/2006/main" prst="roundRect">
            <a:avLst>
              <a:gd name="adj" fmla="val 60000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12700">
            <a:solidFill>
              <a:srgbClr val="FFF5DF">
                <a:alpha val="0"/>
              </a:srgbClr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F5B4C338-169E-4CBB-BA1D-15930287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5632" y="3241548"/>
            <a:ext cx="1792224" cy="1920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30" b="1">
                <a:solidFill>
                  <a:srgbClr val="926B21"/>
                </a:solidFill>
                <a:latin typeface="Aptos"/>
                <a:ea typeface="Aptos"/>
                <a:cs typeface="Aptos"/>
              </a:rPr>
              <a:t>2-party Cloud verified</a:t>
            </a:r>
            <a:endParaRPr sz="930"/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918F6938-EE6B-4DE2-8425-04DF0609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58184"/>
            <a:ext cx="3648456" cy="155448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7E2"/>
            </a:solidFill>
            <a:prstDash val="solid"/>
          </a:ln>
        </p:spPr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D2E1E265-B18B-4BE7-A44B-54B21C79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913632"/>
            <a:ext cx="539496" cy="393192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104D43"/>
          </a:solidFill>
          <a:ln xmlns:a="http://schemas.openxmlformats.org/drawingml/2006/main" w="12700">
            <a:solidFill>
              <a:srgbClr val="104D43">
                <a:alpha val="0"/>
              </a:srgbClr>
            </a:solidFill>
            <a:prstDash val="solid"/>
          </a:ln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19EFF393-1FC3-488F-8B0D-D3CA32D2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986784"/>
            <a:ext cx="53949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F4</a:t>
            </a:r>
            <a:endParaRPr sz="120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2E05C787-2951-4D3C-A9B5-DD082C55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744" y="3904488"/>
            <a:ext cx="2633472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40" b="1">
                <a:solidFill>
                  <a:srgbClr val="193D38"/>
                </a:solidFill>
                <a:latin typeface="Aptos"/>
                <a:ea typeface="Aptos"/>
                <a:cs typeface="Aptos"/>
              </a:rPr>
              <a:t>Speech transcription</a:t>
            </a:r>
            <a:endParaRPr sz="1440"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54218CEC-EC12-4943-8532-05E0F1B0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398264"/>
            <a:ext cx="321868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30">
                <a:solidFill>
                  <a:srgbClr val="5A706B"/>
                </a:solidFill>
                <a:latin typeface="Aptos"/>
                <a:ea typeface="Aptos"/>
                <a:cs typeface="Aptos"/>
              </a:rPr>
              <a:t>Role-labelled turns, consent and optional storage.</a:t>
            </a:r>
            <a:endParaRPr sz="1130"/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0CC9137E-DE50-4553-A1EE-EDECA3CF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4910328"/>
            <a:ext cx="1956816" cy="274320"/>
          </a:xfrm>
          <a:prstGeom xmlns:a="http://schemas.openxmlformats.org/drawingml/2006/main" prst="roundRect">
            <a:avLst>
              <a:gd name="adj" fmla="val 60000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12700">
            <a:solidFill>
              <a:srgbClr val="FFF5DF">
                <a:alpha val="0"/>
              </a:srgbClr>
            </a:solidFill>
            <a:prstDash val="solid"/>
          </a:ln>
        </p:spPr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A12579DC-5F7C-415D-A39B-434FED91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951476"/>
            <a:ext cx="1792224" cy="1920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863"/>
            </a:defPPr>
            <a:lvl1pPr>
              <a:buNone/>
              <a:defRPr sz="863"/>
            </a:lvl1pPr>
            <a:lvl2pPr>
              <a:buNone/>
              <a:defRPr sz="863"/>
            </a:lvl2pPr>
            <a:lvl3pPr>
              <a:buNone/>
              <a:defRPr sz="863"/>
            </a:lvl3pPr>
            <a:lvl4pPr>
              <a:buNone/>
              <a:defRPr sz="863"/>
            </a:lvl4pPr>
            <a:lvl5pPr>
              <a:buNone/>
              <a:defRPr sz="863"/>
            </a:lvl5pPr>
            <a:lvl6pPr>
              <a:buNone/>
              <a:defRPr sz="863"/>
            </a:lvl6pPr>
            <a:lvl7pPr>
              <a:buNone/>
              <a:defRPr sz="863"/>
            </a:lvl7pPr>
            <a:lvl8pPr>
              <a:buNone/>
              <a:defRPr sz="863"/>
            </a:lvl8pPr>
            <a:lvl9pPr>
              <a:buNone/>
              <a:defRPr sz="863"/>
            </a:lvl9pPr>
          </a:lstStyle>
          <a:p xmlns:a="http://schemas.openxmlformats.org/drawingml/2006/main">
            <a:pPr marL="0" indent="0" algn="ctr">
              <a:buNone/>
            </a:pPr>
            <a:r>
              <a:rPr sz="863" b="1">
                <a:solidFill>
                  <a:srgbClr val="926B21"/>
                </a:solidFill>
                <a:latin typeface="Aptos"/>
                <a:ea typeface="Aptos"/>
                <a:cs typeface="Aptos"/>
              </a:rPr>
              <a:t>Live browser STT partial</a:t>
            </a:r>
            <a:endParaRPr sz="930"/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112A90A3-C635-4E30-ADAE-0892539E1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758184"/>
            <a:ext cx="3648456" cy="155448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7E2"/>
            </a:solidFill>
            <a:prstDash val="solid"/>
          </a:ln>
        </p:spPr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133EBED0-F1A3-4EDA-96D8-92C7E6198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712" y="3913632"/>
            <a:ext cx="539496" cy="393192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104D43"/>
          </a:solidFill>
          <a:ln xmlns:a="http://schemas.openxmlformats.org/drawingml/2006/main" w="12700">
            <a:solidFill>
              <a:srgbClr val="104D43">
                <a:alpha val="0"/>
              </a:srgbClr>
            </a:solidFill>
            <a:prstDash val="solid"/>
          </a:ln>
        </p:spPr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DB632E5D-86EE-4096-9C9C-135DC735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712" y="3986784"/>
            <a:ext cx="53949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F5</a:t>
            </a:r>
            <a:endParaRPr sz="1200"/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2DB3C850-B805-4744-81D7-3D68D55DE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2936" y="3904488"/>
            <a:ext cx="2633472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40" b="1">
                <a:solidFill>
                  <a:srgbClr val="193D38"/>
                </a:solidFill>
                <a:latin typeface="Aptos"/>
                <a:ea typeface="Aptos"/>
                <a:cs typeface="Aptos"/>
              </a:rPr>
              <a:t>Q&amp;A evaluation</a:t>
            </a:r>
            <a:endParaRPr sz="1440"/>
          </a:p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A09AD415-E9A7-485A-B7BA-451227B3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98264"/>
            <a:ext cx="321868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30">
                <a:solidFill>
                  <a:srgbClr val="5A706B"/>
                </a:solidFill>
                <a:latin typeface="Aptos"/>
                <a:ea typeface="Aptos"/>
                <a:cs typeface="Aptos"/>
              </a:rPr>
              <a:t>Answer quality, question pairing, requirement coverage.</a:t>
            </a:r>
            <a:endParaRPr sz="1130"/>
          </a:p>
        </p:txBody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08A72F2A-EF8D-43F4-8C64-CFD69BA6E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144" y="4910328"/>
            <a:ext cx="1956816" cy="274320"/>
          </a:xfrm>
          <a:prstGeom xmlns:a="http://schemas.openxmlformats.org/drawingml/2006/main" prst="roundRect">
            <a:avLst>
              <a:gd name="adj" fmla="val 60000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12700">
            <a:solidFill>
              <a:srgbClr val="FFF5DF">
                <a:alpha val="0"/>
              </a:srgbClr>
            </a:solidFill>
            <a:prstDash val="solid"/>
          </a:ln>
        </p:spPr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60C450CE-EEB4-456A-A714-527C6117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4951476"/>
            <a:ext cx="1792224" cy="1920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30" b="1">
                <a:solidFill>
                  <a:srgbClr val="926B21"/>
                </a:solidFill>
                <a:latin typeface="Aptos"/>
                <a:ea typeface="Aptos"/>
                <a:cs typeface="Aptos"/>
              </a:rPr>
              <a:t>Synthetic model-double</a:t>
            </a:r>
            <a:endParaRPr sz="930"/>
          </a:p>
        </p:txBody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0428F831-C051-4799-9252-756C1BF0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312" y="3758184"/>
            <a:ext cx="3648456" cy="155448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7E2"/>
            </a:solidFill>
            <a:prstDash val="solid"/>
          </a:ln>
        </p:spPr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3262D1EC-2F5C-4044-BBCE-CC49F259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3913632"/>
            <a:ext cx="539496" cy="393192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104D43"/>
          </a:solidFill>
          <a:ln xmlns:a="http://schemas.openxmlformats.org/drawingml/2006/main" w="12700">
            <a:solidFill>
              <a:srgbClr val="104D43">
                <a:alpha val="0"/>
              </a:srgbClr>
            </a:solidFill>
            <a:prstDash val="solid"/>
          </a:ln>
        </p:spPr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ED503C54-9A06-4C67-9C5B-71A0D13E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3986784"/>
            <a:ext cx="53949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F6</a:t>
            </a:r>
            <a:endParaRPr sz="1200"/>
          </a:p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69975AFB-B451-4159-AC65-108BF6A8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5128" y="3904488"/>
            <a:ext cx="2633472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40" b="1">
                <a:solidFill>
                  <a:srgbClr val="193D38"/>
                </a:solidFill>
                <a:latin typeface="Aptos"/>
                <a:ea typeface="Aptos"/>
                <a:cs typeface="Aptos"/>
              </a:rPr>
              <a:t>Consolidated report</a:t>
            </a:r>
            <a:endParaRPr sz="1440"/>
          </a:p>
        </p:txBody>
      </p:sp>
      <p:sp>
        <p:nvSpPr>
          <p:cNvPr id="53" name="Text 51">
            <a:extLst xmlns:a="http://schemas.openxmlformats.org/drawingml/2006/main">
              <a:ext uri="{FF2B5EF4-FFF2-40B4-BE49-F238E27FC236}">
                <a16:creationId xmlns:a16="http://schemas.microsoft.com/office/drawing/2014/main" id="{6D3E7BF5-037B-4E5E-9C41-6944FA2D7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4398264"/>
            <a:ext cx="321868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30">
                <a:solidFill>
                  <a:srgbClr val="5A706B"/>
                </a:solidFill>
                <a:latin typeface="Aptos"/>
                <a:ea typeface="Aptos"/>
                <a:cs typeface="Aptos"/>
              </a:rPr>
              <a:t>CV evidence plus authorized interview findings.</a:t>
            </a:r>
            <a:endParaRPr sz="1130"/>
          </a:p>
        </p:txBody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0B1514EC-6E4C-4418-A23B-BF3537CE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3336" y="4910328"/>
            <a:ext cx="1956816" cy="274320"/>
          </a:xfrm>
          <a:prstGeom xmlns:a="http://schemas.openxmlformats.org/drawingml/2006/main" prst="roundRect">
            <a:avLst>
              <a:gd name="adj" fmla="val 60000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12700">
            <a:solidFill>
              <a:srgbClr val="FFF5DF">
                <a:alpha val="0"/>
              </a:srgbClr>
            </a:solidFill>
            <a:prstDash val="solid"/>
          </a:ln>
        </p:spPr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6069BC49-6C6C-447C-9D5F-41CB1C89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5632" y="4951476"/>
            <a:ext cx="1792224" cy="1920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863"/>
            </a:defPPr>
            <a:lvl1pPr>
              <a:buNone/>
              <a:defRPr sz="863"/>
            </a:lvl1pPr>
            <a:lvl2pPr>
              <a:buNone/>
              <a:defRPr sz="863"/>
            </a:lvl2pPr>
            <a:lvl3pPr>
              <a:buNone/>
              <a:defRPr sz="863"/>
            </a:lvl3pPr>
            <a:lvl4pPr>
              <a:buNone/>
              <a:defRPr sz="863"/>
            </a:lvl4pPr>
            <a:lvl5pPr>
              <a:buNone/>
              <a:defRPr sz="863"/>
            </a:lvl5pPr>
            <a:lvl6pPr>
              <a:buNone/>
              <a:defRPr sz="863"/>
            </a:lvl6pPr>
            <a:lvl7pPr>
              <a:buNone/>
              <a:defRPr sz="863"/>
            </a:lvl7pPr>
            <a:lvl8pPr>
              <a:buNone/>
              <a:defRPr sz="863"/>
            </a:lvl8pPr>
            <a:lvl9pPr>
              <a:buNone/>
              <a:defRPr sz="863"/>
            </a:lvl9pPr>
          </a:lstStyle>
          <a:p xmlns:a="http://schemas.openxmlformats.org/drawingml/2006/main">
            <a:pPr marL="0" indent="0" algn="ctr">
              <a:buNone/>
            </a:pPr>
            <a:r>
              <a:rPr sz="863" b="1">
                <a:solidFill>
                  <a:srgbClr val="926B21"/>
                </a:solidFill>
                <a:latin typeface="Aptos"/>
                <a:ea typeface="Aptos"/>
                <a:cs typeface="Aptos"/>
              </a:rPr>
              <a:t>Synthetic report / print verified</a:t>
            </a:r>
            <a:endParaRPr sz="930"/>
          </a:p>
        </p:txBody>
      </p:sp>
      <p:sp>
        <p:nvSpPr>
          <p:cNvPr id="56" name="Shape 54">
            <a:extLst xmlns:a="http://schemas.openxmlformats.org/drawingml/2006/main">
              <a:ext uri="{FF2B5EF4-FFF2-40B4-BE49-F238E27FC236}">
                <a16:creationId xmlns:a16="http://schemas.microsoft.com/office/drawing/2014/main" id="{F0D94051-C8FE-4C6E-8494-5370BDB4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5650992"/>
            <a:ext cx="11018520" cy="521208"/>
          </a:xfrm>
          <a:prstGeom xmlns:a="http://schemas.openxmlformats.org/drawingml/2006/main" prst="roundRect">
            <a:avLst>
              <a:gd name="adj" fmla="val 22807"/>
            </a:avLst>
          </a:prstGeom>
          <a:solidFill xmlns:a="http://schemas.openxmlformats.org/drawingml/2006/main">
            <a:srgbClr val="ECF6F1"/>
          </a:solidFill>
          <a:ln xmlns:a="http://schemas.openxmlformats.org/drawingml/2006/main" w="12700">
            <a:solidFill>
              <a:srgbClr val="ECF6F1">
                <a:alpha val="0"/>
              </a:srgbClr>
            </a:solidFill>
            <a:prstDash val="solid"/>
          </a:ln>
        </p:spPr>
      </p:sp>
      <p:sp>
        <p:nvSpPr>
          <p:cNvPr id="57" name="Text 55">
            <a:extLst xmlns:a="http://schemas.openxmlformats.org/drawingml/2006/main">
              <a:ext uri="{FF2B5EF4-FFF2-40B4-BE49-F238E27FC236}">
                <a16:creationId xmlns:a16="http://schemas.microsoft.com/office/drawing/2014/main" id="{04074DCB-EC8D-4258-87F6-1F53AFAF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5779008"/>
            <a:ext cx="38404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90" b="1">
                <a:solidFill>
                  <a:srgbClr val="104D43"/>
                </a:solidFill>
                <a:latin typeface="Aptos"/>
                <a:ea typeface="Aptos"/>
                <a:cs typeface="Aptos"/>
              </a:rPr>
              <a:t>F11  |  DYNAMIC INTERVIEWER CO-PILOT</a:t>
            </a:r>
            <a:endParaRPr sz="1290"/>
          </a:p>
        </p:txBody>
      </p:sp>
      <p:sp>
        <p:nvSpPr>
          <p:cNvPr id="58" name="Text 56">
            <a:extLst xmlns:a="http://schemas.openxmlformats.org/drawingml/2006/main">
              <a:ext uri="{FF2B5EF4-FFF2-40B4-BE49-F238E27FC236}">
                <a16:creationId xmlns:a16="http://schemas.microsoft.com/office/drawing/2014/main" id="{635BD831-8967-47ED-84CF-8230D662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152" y="5797296"/>
            <a:ext cx="6720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>
                <a:solidFill>
                  <a:srgbClr val="5A706B"/>
                </a:solidFill>
                <a:latin typeface="Aptos"/>
                <a:ea typeface="Aptos"/>
                <a:cs typeface="Aptos"/>
              </a:rPr>
              <a:t>Recruiter-only LangGraph suggestions; fake-STT browser lifecycle PASS. Real AssemblyAI chain not yet verified.</a:t>
            </a:r>
            <a:endParaRPr sz="1150"/>
          </a:p>
        </p:txBody>
      </p:sp>
    </p:spTree>
    <p:extLst>
      <p:ext uri="{BB962C8B-B14F-4D97-AF65-F5344CB8AC3E}">
        <p14:creationId xmlns:p14="http://schemas.microsoft.com/office/powerpoint/2010/main" val="141307722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A864469-A333-418B-9F7A-0C665DF0F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F7FAF8"/>
          </a:solidFill>
          <a:ln xmlns:a="http://schemas.openxmlformats.org/drawingml/2006/main" w="12700">
            <a:solidFill>
              <a:srgbClr val="F7FAF8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994A2B9-1F27-4EB4-8CB9-1D4ACA39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2296" cy="6858000"/>
          </a:xfrm>
          <a:prstGeom xmlns:a="http://schemas.openxmlformats.org/drawingml/2006/main" prst="roundRect">
            <a:avLst>
              <a:gd name="adj" fmla="val 177778"/>
            </a:avLst>
          </a:prstGeom>
          <a:solidFill xmlns:a="http://schemas.openxmlformats.org/drawingml/2006/main">
            <a:srgbClr val="104D43"/>
          </a:solidFill>
          <a:ln xmlns:a="http://schemas.openxmlformats.org/drawingml/2006/main" w="12700">
            <a:solidFill>
              <a:srgbClr val="104D43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95A702C-70CE-46EC-8E8D-BC74269C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393192" cy="393192"/>
          </a:xfrm>
          <a:prstGeom xmlns:a="http://schemas.openxmlformats.org/drawingml/2006/main" prst="roundRect">
            <a:avLst>
              <a:gd name="adj" fmla="val 23256"/>
            </a:avLst>
          </a:prstGeom>
          <a:solidFill xmlns:a="http://schemas.openxmlformats.org/drawingml/2006/main">
            <a:srgbClr val="197C6A"/>
          </a:solidFill>
          <a:ln xmlns:a="http://schemas.openxmlformats.org/drawingml/2006/main" w="12700">
            <a:solidFill>
              <a:srgbClr val="197C6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BF4D2D5-B38C-4AF9-9C03-6F15FA192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4904"/>
            <a:ext cx="39319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</a:t>
            </a:r>
            <a:endParaRPr sz="2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D89CCAA-35A0-40D2-9C3F-B6C09FBD7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" y="374904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 spc="90">
                <a:solidFill>
                  <a:srgbClr val="104D43"/>
                </a:solidFill>
                <a:latin typeface="Aptos"/>
                <a:ea typeface="Aptos"/>
                <a:cs typeface="Aptos"/>
              </a:rPr>
              <a:t>TALENTTRACE AI</a:t>
            </a:r>
            <a:endParaRPr sz="12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376867F-CB3E-469B-9849-962BF1C2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402336"/>
            <a:ext cx="23774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30" b="1" spc="100">
                <a:solidFill>
                  <a:srgbClr val="5A706B"/>
                </a:solidFill>
                <a:latin typeface="Aptos"/>
                <a:ea typeface="Aptos"/>
                <a:cs typeface="Aptos"/>
              </a:rPr>
              <a:t>SYSTEM DESIGN</a:t>
            </a:r>
            <a:endParaRPr sz="103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243AC85-8AC9-4D45-B36F-639DBDF9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77824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CE7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4FE2F22-E186-445B-94D0-D943C770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1060704"/>
            <a:ext cx="1106424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50" b="1">
                <a:solidFill>
                  <a:srgbClr val="104D43"/>
                </a:solidFill>
                <a:latin typeface="Aptos"/>
                <a:ea typeface="Aptos"/>
                <a:cs typeface="Aptos"/>
              </a:rPr>
              <a:t>System architecture</a:t>
            </a:r>
            <a:endParaRPr sz="27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00D00CB-8FBE-4EE9-AB58-B61B7D67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18488"/>
            <a:ext cx="10881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275"/>
            </a:defPPr>
            <a:lvl1pPr>
              <a:buNone/>
              <a:defRPr sz="1275"/>
            </a:lvl1pPr>
            <a:lvl2pPr>
              <a:buNone/>
              <a:defRPr sz="1275"/>
            </a:lvl2pPr>
            <a:lvl3pPr>
              <a:buNone/>
              <a:defRPr sz="1275"/>
            </a:lvl3pPr>
            <a:lvl4pPr>
              <a:buNone/>
              <a:defRPr sz="1275"/>
            </a:lvl4pPr>
            <a:lvl5pPr>
              <a:buNone/>
              <a:defRPr sz="1275"/>
            </a:lvl5pPr>
            <a:lvl6pPr>
              <a:buNone/>
              <a:defRPr sz="1275"/>
            </a:lvl6pPr>
            <a:lvl7pPr>
              <a:buNone/>
              <a:defRPr sz="1275"/>
            </a:lvl7pPr>
            <a:lvl8pPr>
              <a:buNone/>
              <a:defRPr sz="1275"/>
            </a:lvl8pPr>
            <a:lvl9pPr>
              <a:buNone/>
              <a:defRPr sz="1275"/>
            </a:lvl9pPr>
          </a:lstStyle>
          <a:p xmlns:a="http://schemas.openxmlformats.org/drawingml/2006/main">
            <a:pPr marL="0" indent="0" algn="l">
              <a:buNone/>
            </a:pPr>
            <a:r>
              <a:rPr sz="1275">
                <a:solidFill>
                  <a:srgbClr val="5A706B"/>
                </a:solidFill>
                <a:latin typeface="Aptos"/>
                <a:ea typeface="Aptos"/>
                <a:cs typeface="Aptos"/>
              </a:rPr>
              <a:t>Application components and explicit data-processing boundaries.</a:t>
            </a:r>
            <a:endParaRPr sz="14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0B84A97-464F-4804-B69D-83AEDDFD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446520"/>
            <a:ext cx="111282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DCE7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4E16740-CDC5-433B-BCEB-AA268834C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6519672"/>
            <a:ext cx="7863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900">
                <a:solidFill>
                  <a:srgbClr val="8C9A97"/>
                </a:solidFill>
                <a:latin typeface="Aptos"/>
                <a:ea typeface="Aptos"/>
                <a:cs typeface="Aptos"/>
              </a:rPr>
              <a:t>AI Trainee Programme  /  BJIT final project  /  October 2026</a:t>
            </a:r>
            <a:endParaRPr sz="90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F67B609-379C-4B62-AA56-2465BFEF5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4472" y="6519672"/>
            <a:ext cx="9601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30">
                <a:solidFill>
                  <a:srgbClr val="8C9A97"/>
                </a:solidFill>
                <a:latin typeface="Aptos"/>
                <a:ea typeface="Aptos"/>
                <a:cs typeface="Aptos"/>
              </a:rPr>
              <a:t>06 / 18</a:t>
            </a:r>
            <a:endParaRPr sz="93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130374D3-4159-4E82-AC84-ADD90E83C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240280"/>
            <a:ext cx="2176272" cy="2176272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7E2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060042BC-22BF-4271-93F9-FAA0B027B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368296"/>
            <a:ext cx="950976" cy="246888"/>
          </a:xfrm>
          <a:prstGeom xmlns:a="http://schemas.openxmlformats.org/drawingml/2006/main" prst="roundRect">
            <a:avLst>
              <a:gd name="adj" fmla="val 66667"/>
            </a:avLst>
          </a:prstGeom>
          <a:solidFill xmlns:a="http://schemas.openxmlformats.org/drawingml/2006/main">
            <a:srgbClr val="EFF3F1"/>
          </a:solidFill>
          <a:ln xmlns:a="http://schemas.openxmlformats.org/drawingml/2006/main" w="12700">
            <a:solidFill>
              <a:srgbClr val="EFF3F1">
                <a:alpha val="0"/>
              </a:srgbClr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9FEF09A-B4A6-4439-A8FF-DACB0B7D8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409444"/>
            <a:ext cx="78638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30" b="1">
                <a:solidFill>
                  <a:srgbClr val="5A706B"/>
                </a:solidFill>
                <a:latin typeface="Aptos"/>
                <a:ea typeface="Aptos"/>
                <a:cs typeface="Aptos"/>
              </a:rPr>
              <a:t>USER LAYER</a:t>
            </a:r>
            <a:endParaRPr sz="93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91660FD-2CCD-4F46-8BF8-0D9D7E07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779776"/>
            <a:ext cx="1810512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193D38"/>
                </a:solidFill>
                <a:latin typeface="Aptos"/>
                <a:ea typeface="Aptos"/>
                <a:cs typeface="Aptos"/>
              </a:rPr>
              <a:t>React + TypeScript</a:t>
            </a:r>
            <a:endParaRPr sz="18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1939545-02A5-4A71-90A1-6228CB0F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227832"/>
            <a:ext cx="1810512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70">
                <a:solidFill>
                  <a:srgbClr val="5A706B"/>
                </a:solidFill>
                <a:latin typeface="Aptos"/>
                <a:ea typeface="Aptos"/>
                <a:cs typeface="Aptos"/>
              </a:rPr>
              <a:t>Recruiter dashboard</a:t>
            </a:r>
            <a:endParaRPr sz="1170"/>
          </a:p>
          <a:p xmlns:a="http://schemas.openxmlformats.org/drawingml/2006/main">
            <a:pPr marL="0" indent="0" algn="l">
              <a:buNone/>
            </a:pPr>
            <a:r>
              <a:rPr sz="1170">
                <a:solidFill>
                  <a:srgbClr val="5A706B"/>
                </a:solidFill>
                <a:latin typeface="Aptos"/>
                <a:ea typeface="Aptos"/>
                <a:cs typeface="Aptos"/>
              </a:rPr>
              <a:t>Candidate invitation UI</a:t>
            </a:r>
            <a:endParaRPr sz="1170"/>
          </a:p>
          <a:p xmlns:a="http://schemas.openxmlformats.org/drawingml/2006/main">
            <a:pPr marL="0" indent="0" algn="l">
              <a:buNone/>
            </a:pPr>
            <a:r>
              <a:rPr sz="1170">
                <a:solidFill>
                  <a:srgbClr val="5A706B"/>
                </a:solidFill>
                <a:latin typeface="Aptos"/>
                <a:ea typeface="Aptos"/>
                <a:cs typeface="Aptos"/>
              </a:rPr>
              <a:t>Video interview controls</a:t>
            </a:r>
            <a:endParaRPr sz="117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49887408-1A44-4A2D-ABE7-9B4010923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2240280"/>
            <a:ext cx="2743200" cy="2176272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7E2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A084CB1D-C9C5-4D4C-9F98-F95C1F95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2368296"/>
            <a:ext cx="1417320" cy="246888"/>
          </a:xfrm>
          <a:prstGeom xmlns:a="http://schemas.openxmlformats.org/drawingml/2006/main" prst="roundRect">
            <a:avLst>
              <a:gd name="adj" fmla="val 66667"/>
            </a:avLst>
          </a:prstGeom>
          <a:solidFill xmlns:a="http://schemas.openxmlformats.org/drawingml/2006/main">
            <a:srgbClr val="DCF0E7"/>
          </a:solidFill>
          <a:ln xmlns:a="http://schemas.openxmlformats.org/drawingml/2006/main" w="12700">
            <a:solidFill>
              <a:srgbClr val="DCF0E7">
                <a:alpha val="0"/>
              </a:srgbClr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F9230D82-BE15-4CDC-8EEF-AB53D0BDC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2409444"/>
            <a:ext cx="125272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30" b="1">
                <a:solidFill>
                  <a:srgbClr val="104D43"/>
                </a:solidFill>
                <a:latin typeface="Aptos"/>
                <a:ea typeface="Aptos"/>
                <a:cs typeface="Aptos"/>
              </a:rPr>
              <a:t>API + SECURITY</a:t>
            </a:r>
            <a:endParaRPr sz="93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F481D864-2D09-40B4-9026-A2B30F90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2779776"/>
            <a:ext cx="2377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193D38"/>
                </a:solidFill>
                <a:latin typeface="Aptos"/>
                <a:ea typeface="Aptos"/>
                <a:cs typeface="Aptos"/>
              </a:rPr>
              <a:t>FastAPI + Pydantic</a:t>
            </a:r>
            <a:endParaRPr sz="18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9D4DA373-B7D0-4BB4-9280-B01B4B03D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4136" y="3209544"/>
            <a:ext cx="2350008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70">
                <a:solidFill>
                  <a:srgbClr val="5A706B"/>
                </a:solidFill>
                <a:latin typeface="Aptos"/>
                <a:ea typeface="Aptos"/>
                <a:cs typeface="Aptos"/>
              </a:rPr>
              <a:t>Auth / role isolation</a:t>
            </a:r>
            <a:endParaRPr sz="1170"/>
          </a:p>
          <a:p xmlns:a="http://schemas.openxmlformats.org/drawingml/2006/main">
            <a:pPr marL="0" indent="0" algn="l">
              <a:buNone/>
            </a:pPr>
            <a:r>
              <a:rPr sz="1170">
                <a:solidFill>
                  <a:srgbClr val="5A706B"/>
                </a:solidFill>
                <a:latin typeface="Aptos"/>
                <a:ea typeface="Aptos"/>
                <a:cs typeface="Aptos"/>
              </a:rPr>
              <a:t>Job &amp; application services</a:t>
            </a:r>
            <a:endParaRPr sz="1170"/>
          </a:p>
          <a:p xmlns:a="http://schemas.openxmlformats.org/drawingml/2006/main">
            <a:pPr marL="0" indent="0" algn="l">
              <a:buNone/>
            </a:pPr>
            <a:r>
              <a:rPr sz="1170">
                <a:solidFill>
                  <a:srgbClr val="5A706B"/>
                </a:solidFill>
                <a:latin typeface="Aptos"/>
                <a:ea typeface="Aptos"/>
                <a:cs typeface="Aptos"/>
              </a:rPr>
              <a:t>Consent and privacy gates</a:t>
            </a:r>
            <a:endParaRPr sz="117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63CBD8C4-5059-499D-B898-C781C1342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2240280"/>
            <a:ext cx="2395728" cy="2176272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7E2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7D68B0F9-21D1-4626-9102-E01C5BD9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2368296"/>
            <a:ext cx="1709928" cy="246888"/>
          </a:xfrm>
          <a:prstGeom xmlns:a="http://schemas.openxmlformats.org/drawingml/2006/main" prst="roundRect">
            <a:avLst>
              <a:gd name="adj" fmla="val 66667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12700">
            <a:solidFill>
              <a:srgbClr val="EAF1F8">
                <a:alpha val="0"/>
              </a:srgbClr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08E6F1A3-D435-47A9-AA31-BD800B45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409444"/>
            <a:ext cx="154533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30" b="1">
                <a:solidFill>
                  <a:srgbClr val="587997"/>
                </a:solidFill>
                <a:latin typeface="Aptos"/>
                <a:ea typeface="Aptos"/>
                <a:cs typeface="Aptos"/>
              </a:rPr>
              <a:t>AI ORCHESTRATION</a:t>
            </a:r>
            <a:endParaRPr sz="93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478EB05E-387F-4AC8-A986-E122E4AC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2779776"/>
            <a:ext cx="2011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193D38"/>
                </a:solidFill>
                <a:latin typeface="Aptos"/>
                <a:ea typeface="Aptos"/>
                <a:cs typeface="Aptos"/>
              </a:rPr>
              <a:t>LangGraph</a:t>
            </a:r>
            <a:endParaRPr sz="18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3CD3CCA-D60A-4D71-9556-4502C7D8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3209544"/>
            <a:ext cx="1965960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70">
                <a:solidFill>
                  <a:srgbClr val="5A706B"/>
                </a:solidFill>
                <a:latin typeface="Aptos"/>
                <a:ea typeface="Aptos"/>
                <a:cs typeface="Aptos"/>
              </a:rPr>
              <a:t>Stateful screening</a:t>
            </a:r>
            <a:endParaRPr sz="1170"/>
          </a:p>
          <a:p xmlns:a="http://schemas.openxmlformats.org/drawingml/2006/main">
            <a:pPr marL="0" indent="0" algn="l">
              <a:buNone/>
            </a:pPr>
            <a:r>
              <a:rPr sz="1170">
                <a:solidFill>
                  <a:srgbClr val="5A706B"/>
                </a:solidFill>
                <a:latin typeface="Aptos"/>
                <a:ea typeface="Aptos"/>
                <a:cs typeface="Aptos"/>
              </a:rPr>
              <a:t>Q&amp;A analysis</a:t>
            </a:r>
            <a:endParaRPr sz="1170"/>
          </a:p>
          <a:p xmlns:a="http://schemas.openxmlformats.org/drawingml/2006/main">
            <a:pPr marL="0" indent="0" algn="l">
              <a:buNone/>
            </a:pPr>
            <a:r>
              <a:rPr sz="1170">
                <a:solidFill>
                  <a:srgbClr val="5A706B"/>
                </a:solidFill>
                <a:latin typeface="Aptos"/>
                <a:ea typeface="Aptos"/>
                <a:cs typeface="Aptos"/>
              </a:rPr>
              <a:t>F11 bounded co-pilot</a:t>
            </a:r>
            <a:endParaRPr sz="117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15A2C176-7507-4F41-96D3-F0FC6E002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1704" y="2240280"/>
            <a:ext cx="2532888" cy="2176272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7E2"/>
            </a:solidFill>
            <a:prstDash val="solid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354AEA67-4EB7-4047-A2B0-32D3D5E92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728" y="2368296"/>
            <a:ext cx="1207008" cy="246888"/>
          </a:xfrm>
          <a:prstGeom xmlns:a="http://schemas.openxmlformats.org/drawingml/2006/main" prst="roundRect">
            <a:avLst>
              <a:gd name="adj" fmla="val 66667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12700">
            <a:solidFill>
              <a:srgbClr val="FFF5DF">
                <a:alpha val="0"/>
              </a:srgbClr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05F72502-E2F1-46D1-8092-7EED7ED5E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6024" y="2409444"/>
            <a:ext cx="104241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30" b="1">
                <a:solidFill>
                  <a:srgbClr val="926B21"/>
                </a:solidFill>
                <a:latin typeface="Aptos"/>
                <a:ea typeface="Aptos"/>
                <a:cs typeface="Aptos"/>
              </a:rPr>
              <a:t>PERSISTENCE</a:t>
            </a:r>
            <a:endParaRPr sz="93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C2A5FA5D-6C42-4A40-A7C9-B1D74FE15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872" y="2779776"/>
            <a:ext cx="197510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193D38"/>
                </a:solidFill>
                <a:latin typeface="Aptos"/>
                <a:ea typeface="Aptos"/>
                <a:cs typeface="Aptos"/>
              </a:rPr>
              <a:t>PostgreSQL</a:t>
            </a:r>
            <a:endParaRPr sz="18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E4AE2560-54A4-402C-9BDF-04E2BE40A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2016" y="3209544"/>
            <a:ext cx="2002536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70">
                <a:solidFill>
                  <a:srgbClr val="5A706B"/>
                </a:solidFill>
                <a:latin typeface="Aptos"/>
                <a:ea typeface="Aptos"/>
                <a:cs typeface="Aptos"/>
              </a:rPr>
              <a:t>Jobs, criteria, scores</a:t>
            </a:r>
            <a:endParaRPr sz="1170"/>
          </a:p>
          <a:p xmlns:a="http://schemas.openxmlformats.org/drawingml/2006/main">
            <a:pPr marL="0" indent="0" algn="l">
              <a:buNone/>
            </a:pPr>
            <a:r>
              <a:rPr sz="1170">
                <a:solidFill>
                  <a:srgbClr val="5A706B"/>
                </a:solidFill>
                <a:latin typeface="Aptos"/>
                <a:ea typeface="Aptos"/>
                <a:cs typeface="Aptos"/>
              </a:rPr>
              <a:t>Invitations, transcripts</a:t>
            </a:r>
            <a:endParaRPr sz="1170"/>
          </a:p>
          <a:p xmlns:a="http://schemas.openxmlformats.org/drawingml/2006/main">
            <a:pPr marL="0" indent="0" algn="l">
              <a:buNone/>
            </a:pPr>
            <a:r>
              <a:rPr sz="1170">
                <a:solidFill>
                  <a:srgbClr val="5A706B"/>
                </a:solidFill>
                <a:latin typeface="Aptos"/>
                <a:ea typeface="Aptos"/>
                <a:cs typeface="Aptos"/>
              </a:rPr>
              <a:t>Assessment evidence</a:t>
            </a:r>
            <a:endParaRPr sz="117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8AF8C0CA-95B4-4B75-BD73-D3096E4F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273552"/>
            <a:ext cx="32918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4290">
            <a:solidFill>
              <a:srgbClr val="197C6A"/>
            </a:solidFill>
            <a:prstDash val="solid"/>
            <a:headEnd type="none"/>
            <a:tailEnd type="triangle"/>
          </a:ln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ED10F064-DAD6-4445-AD1E-16F1F299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312" y="3273552"/>
            <a:ext cx="32918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4290">
            <a:solidFill>
              <a:srgbClr val="197C6A"/>
            </a:solidFill>
            <a:prstDash val="solid"/>
            <a:headEnd type="none"/>
            <a:tailEnd type="triangle"/>
          </a:ln>
        </p:spPr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26BC4EE4-64CA-452F-BB29-351A6603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376" y="3273552"/>
            <a:ext cx="3017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4290">
            <a:solidFill>
              <a:srgbClr val="197C6A"/>
            </a:solidFill>
            <a:prstDash val="solid"/>
            <a:headEnd type="none"/>
            <a:tailEnd type="triangle"/>
          </a:ln>
        </p:spPr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9609DED1-FEC2-466D-ABEC-389C0074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782312"/>
            <a:ext cx="2697480" cy="832104"/>
          </a:xfrm>
          <a:prstGeom xmlns:a="http://schemas.openxmlformats.org/drawingml/2006/main" prst="roundRect">
            <a:avLst>
              <a:gd name="adj" fmla="val 175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7E2"/>
            </a:solidFill>
            <a:prstDash val="solid"/>
          </a:ln>
        </p:spPr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7FE4B399-9D5D-443D-95AE-51B8C05F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4901184"/>
            <a:ext cx="235000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90" b="1">
                <a:solidFill>
                  <a:srgbClr val="193D38"/>
                </a:solidFill>
                <a:latin typeface="Aptos"/>
                <a:ea typeface="Aptos"/>
                <a:cs typeface="Aptos"/>
              </a:rPr>
              <a:t>Groq</a:t>
            </a:r>
            <a:endParaRPr sz="1390"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36CCB978-0F51-468E-B90D-00A93D4E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5202936"/>
            <a:ext cx="232257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A706B"/>
                </a:solidFill>
                <a:latin typeface="Aptos"/>
                <a:ea typeface="Aptos"/>
                <a:cs typeface="Aptos"/>
              </a:rPr>
              <a:t>JD + CV inference</a:t>
            </a:r>
            <a:endParaRPr sz="1050"/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A0FC48E5-7754-4267-8990-927F36081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4782312"/>
            <a:ext cx="2697480" cy="832104"/>
          </a:xfrm>
          <a:prstGeom xmlns:a="http://schemas.openxmlformats.org/drawingml/2006/main" prst="roundRect">
            <a:avLst>
              <a:gd name="adj" fmla="val 175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7E2"/>
            </a:solidFill>
            <a:prstDash val="solid"/>
          </a:ln>
        </p:spPr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F2D72561-4FAC-47FF-9B0C-8FB606BFE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032" y="4901184"/>
            <a:ext cx="235000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90" b="1">
                <a:solidFill>
                  <a:srgbClr val="193D38"/>
                </a:solidFill>
                <a:latin typeface="Aptos"/>
                <a:ea typeface="Aptos"/>
                <a:cs typeface="Aptos"/>
              </a:rPr>
              <a:t>LiveKit</a:t>
            </a:r>
            <a:endParaRPr sz="1390"/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D5E26E5C-5104-4917-B4FF-FF42B96D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032" y="5202936"/>
            <a:ext cx="232257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A706B"/>
                </a:solidFill>
                <a:latin typeface="Aptos"/>
                <a:ea typeface="Aptos"/>
                <a:cs typeface="Aptos"/>
              </a:rPr>
              <a:t>Real-time media</a:t>
            </a:r>
            <a:endParaRPr sz="1050"/>
          </a:p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730474EC-B90F-400B-9995-8C0746B0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4782312"/>
            <a:ext cx="2697480" cy="832104"/>
          </a:xfrm>
          <a:prstGeom xmlns:a="http://schemas.openxmlformats.org/drawingml/2006/main" prst="roundRect">
            <a:avLst>
              <a:gd name="adj" fmla="val 175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7E2"/>
            </a:solidFill>
            <a:prstDash val="solid"/>
          </a:ln>
        </p:spPr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295D30F0-00CB-4B26-921F-5E6457EAB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4901184"/>
            <a:ext cx="235000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90" b="1">
                <a:solidFill>
                  <a:srgbClr val="193D38"/>
                </a:solidFill>
                <a:latin typeface="Aptos"/>
                <a:ea typeface="Aptos"/>
                <a:cs typeface="Aptos"/>
              </a:rPr>
              <a:t>AssemblyAI</a:t>
            </a:r>
            <a:endParaRPr sz="1390"/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0D118BFF-05FE-4C13-8628-B6CAA8A6A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5202936"/>
            <a:ext cx="232257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A706B"/>
                </a:solidFill>
                <a:latin typeface="Aptos"/>
                <a:ea typeface="Aptos"/>
                <a:cs typeface="Aptos"/>
              </a:rPr>
              <a:t>Synthetic STT trial</a:t>
            </a:r>
            <a:endParaRPr sz="1050"/>
          </a:p>
        </p:txBody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CA3E4DF4-62C9-47E9-97B6-78CF524D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4782312"/>
            <a:ext cx="2697480" cy="832104"/>
          </a:xfrm>
          <a:prstGeom xmlns:a="http://schemas.openxmlformats.org/drawingml/2006/main" prst="roundRect">
            <a:avLst>
              <a:gd name="adj" fmla="val 175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7E2"/>
            </a:solidFill>
            <a:prstDash val="solid"/>
          </a:ln>
        </p:spPr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0EB92086-1FDE-4E9C-AB3C-70A7A270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4901184"/>
            <a:ext cx="235000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050"/>
            </a:defPPr>
            <a:lvl1pPr>
              <a:buNone/>
              <a:defRPr sz="1050"/>
            </a:lvl1pPr>
            <a:lvl2pPr>
              <a:buNone/>
              <a:defRPr sz="1050"/>
            </a:lvl2pPr>
            <a:lvl3pPr>
              <a:buNone/>
              <a:defRPr sz="1050"/>
            </a:lvl3pPr>
            <a:lvl4pPr>
              <a:buNone/>
              <a:defRPr sz="1050"/>
            </a:lvl4pPr>
            <a:lvl5pPr>
              <a:buNone/>
              <a:defRPr sz="1050"/>
            </a:lvl5pPr>
            <a:lvl6pPr>
              <a:buNone/>
              <a:defRPr sz="1050"/>
            </a:lvl6pPr>
            <a:lvl7pPr>
              <a:buNone/>
              <a:defRPr sz="1050"/>
            </a:lvl7pPr>
            <a:lvl8pPr>
              <a:buNone/>
              <a:defRPr sz="1050"/>
            </a:lvl8pPr>
            <a:lvl9pPr>
              <a:buNone/>
              <a:defRPr sz="1050"/>
            </a:lvl9pPr>
          </a:lstStyle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93D38"/>
                </a:solidFill>
                <a:latin typeface="Aptos"/>
                <a:ea typeface="Aptos"/>
                <a:cs typeface="Aptos"/>
              </a:rPr>
              <a:t>Discord / Telegram / Google</a:t>
            </a:r>
            <a:endParaRPr sz="1390"/>
          </a:p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FF20CCC4-063E-476A-8641-0D0CC8573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5202936"/>
            <a:ext cx="232257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825"/>
            </a:defPPr>
            <a:lvl1pPr>
              <a:buNone/>
              <a:defRPr sz="825"/>
            </a:lvl1pPr>
            <a:lvl2pPr>
              <a:buNone/>
              <a:defRPr sz="825"/>
            </a:lvl2pPr>
            <a:lvl3pPr>
              <a:buNone/>
              <a:defRPr sz="825"/>
            </a:lvl3pPr>
            <a:lvl4pPr>
              <a:buNone/>
              <a:defRPr sz="825"/>
            </a:lvl4pPr>
            <a:lvl5pPr>
              <a:buNone/>
              <a:defRPr sz="825"/>
            </a:lvl5pPr>
            <a:lvl6pPr>
              <a:buNone/>
              <a:defRPr sz="825"/>
            </a:lvl6pPr>
            <a:lvl7pPr>
              <a:buNone/>
              <a:defRPr sz="825"/>
            </a:lvl7pPr>
            <a:lvl8pPr>
              <a:buNone/>
              <a:defRPr sz="825"/>
            </a:lvl8pPr>
            <a:lvl9pPr>
              <a:buNone/>
              <a:defRPr sz="825"/>
            </a:lvl9pPr>
          </a:lstStyle>
          <a:p xmlns:a="http://schemas.openxmlformats.org/drawingml/2006/main">
            <a:pPr marL="0" indent="0" algn="l">
              <a:buNone/>
            </a:pPr>
            <a:r>
              <a:rPr sz="825">
                <a:solidFill>
                  <a:srgbClr val="5A706B"/>
                </a:solidFill>
                <a:latin typeface="Aptos"/>
                <a:ea typeface="Aptos"/>
                <a:cs typeface="Aptos"/>
              </a:rPr>
              <a:t>Separate publishing / intake adapters</a:t>
            </a:r>
            <a:endParaRPr sz="1050"/>
          </a:p>
        </p:txBody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ED3110C4-DBD0-4349-A99D-586BF234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432" y="4507992"/>
            <a:ext cx="0" cy="17373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197C6A"/>
            </a:solidFill>
            <a:prstDash val="solid"/>
          </a:ln>
        </p:spPr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33B1369A-CA45-41B2-8E8E-2A1E0C5B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4681728"/>
            <a:ext cx="8193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197C6A"/>
            </a:solidFill>
            <a:prstDash val="solid"/>
          </a:ln>
        </p:spPr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E3CB8D93-8BAC-45FC-8231-102B51ED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4681728"/>
            <a:ext cx="0" cy="10058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97C6A"/>
            </a:solidFill>
            <a:prstDash val="solid"/>
          </a:ln>
        </p:spPr>
      </p:sp>
      <p:sp>
        <p:nvSpPr>
          <p:cNvPr id="52" name="Shape 50">
            <a:extLst xmlns:a="http://schemas.openxmlformats.org/drawingml/2006/main">
              <a:ext uri="{FF2B5EF4-FFF2-40B4-BE49-F238E27FC236}">
                <a16:creationId xmlns:a16="http://schemas.microsoft.com/office/drawing/2014/main" id="{481890CE-08D8-4D83-BF8D-93E0B69D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2896" y="4681728"/>
            <a:ext cx="0" cy="10058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97C6A"/>
            </a:solidFill>
            <a:prstDash val="solid"/>
          </a:ln>
        </p:spPr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A5F5D873-65FF-4205-B744-5E2DFC15D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81728"/>
            <a:ext cx="0" cy="10058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97C6A"/>
            </a:solidFill>
            <a:prstDash val="solid"/>
          </a:ln>
        </p:spPr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67DAD0A8-F62E-4BF9-8097-6AD81128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1904" y="4681728"/>
            <a:ext cx="0" cy="10058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97C6A"/>
            </a:solidFill>
            <a:prstDash val="solid"/>
          </a:ln>
        </p:spPr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3C4120AA-8946-4DCE-B0D4-6F29F186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879592"/>
            <a:ext cx="10195560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40">
                <a:solidFill>
                  <a:srgbClr val="5A706B"/>
                </a:solidFill>
                <a:latin typeface="Aptos"/>
                <a:ea typeface="Aptos"/>
                <a:cs typeface="Aptos"/>
              </a:rPr>
              <a:t>Third-party calls only when configured and authorized • synthetic data used in evaluation</a:t>
            </a:r>
            <a:endParaRPr sz="1140"/>
          </a:p>
        </p:txBody>
      </p:sp>
    </p:spTree>
    <p:extLst>
      <p:ext uri="{BB962C8B-B14F-4D97-AF65-F5344CB8AC3E}">
        <p14:creationId xmlns:p14="http://schemas.microsoft.com/office/powerpoint/2010/main" val="56578045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5FF17BE-045E-4AA0-9224-C24E5908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F7FAF8"/>
          </a:solidFill>
          <a:ln xmlns:a="http://schemas.openxmlformats.org/drawingml/2006/main" w="12700">
            <a:solidFill>
              <a:srgbClr val="F7FAF8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1732D2B-1870-4566-90D8-2D74C0E7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2296" cy="6858000"/>
          </a:xfrm>
          <a:prstGeom xmlns:a="http://schemas.openxmlformats.org/drawingml/2006/main" prst="roundRect">
            <a:avLst>
              <a:gd name="adj" fmla="val 177778"/>
            </a:avLst>
          </a:prstGeom>
          <a:solidFill xmlns:a="http://schemas.openxmlformats.org/drawingml/2006/main">
            <a:srgbClr val="104D43"/>
          </a:solidFill>
          <a:ln xmlns:a="http://schemas.openxmlformats.org/drawingml/2006/main" w="12700">
            <a:solidFill>
              <a:srgbClr val="104D43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26532F5-30A3-482A-A0FD-C1C575447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393192" cy="393192"/>
          </a:xfrm>
          <a:prstGeom xmlns:a="http://schemas.openxmlformats.org/drawingml/2006/main" prst="roundRect">
            <a:avLst>
              <a:gd name="adj" fmla="val 23256"/>
            </a:avLst>
          </a:prstGeom>
          <a:solidFill xmlns:a="http://schemas.openxmlformats.org/drawingml/2006/main">
            <a:srgbClr val="197C6A"/>
          </a:solidFill>
          <a:ln xmlns:a="http://schemas.openxmlformats.org/drawingml/2006/main" w="12700">
            <a:solidFill>
              <a:srgbClr val="197C6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8747E02-3482-4563-BFC4-CC2D7149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4904"/>
            <a:ext cx="39319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</a:t>
            </a:r>
            <a:endParaRPr sz="2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35FD9C5-6F19-4722-A0C5-88E30D21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" y="374904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 spc="90">
                <a:solidFill>
                  <a:srgbClr val="104D43"/>
                </a:solidFill>
                <a:latin typeface="Aptos"/>
                <a:ea typeface="Aptos"/>
                <a:cs typeface="Aptos"/>
              </a:rPr>
              <a:t>TALENTTRACE AI</a:t>
            </a:r>
            <a:endParaRPr sz="12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591086D-316C-42CF-BA20-B3263372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402336"/>
            <a:ext cx="23774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30" b="1" spc="100">
                <a:solidFill>
                  <a:srgbClr val="5A706B"/>
                </a:solidFill>
                <a:latin typeface="Aptos"/>
                <a:ea typeface="Aptos"/>
                <a:cs typeface="Aptos"/>
              </a:rPr>
              <a:t>ENGINEERING CHOICES</a:t>
            </a:r>
            <a:endParaRPr sz="103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43DABDE-658E-4884-BECC-C99D6A92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77824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CE7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9990D01-D3F2-422E-8A3B-32A122CC7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1060704"/>
            <a:ext cx="1106424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50" b="1">
                <a:solidFill>
                  <a:srgbClr val="104D43"/>
                </a:solidFill>
                <a:latin typeface="Aptos"/>
                <a:ea typeface="Aptos"/>
                <a:cs typeface="Aptos"/>
              </a:rPr>
              <a:t>Technology stack</a:t>
            </a:r>
            <a:endParaRPr sz="27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01DDE41-51A6-436A-8917-2C544C90F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18488"/>
            <a:ext cx="10881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5A706B"/>
                </a:solidFill>
                <a:latin typeface="Aptos"/>
                <a:ea typeface="Aptos"/>
                <a:cs typeface="Aptos"/>
              </a:rPr>
              <a:t>Tools were selected for explicit orchestration, testability and local reproducibility.</a:t>
            </a:r>
            <a:endParaRPr sz="14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83BA7ABB-0E43-43D6-9ABF-79D112E16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446520"/>
            <a:ext cx="111282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DCE7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FFF6F63-41AF-42F4-8B65-EECEE3315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6519672"/>
            <a:ext cx="7863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900">
                <a:solidFill>
                  <a:srgbClr val="8C9A97"/>
                </a:solidFill>
                <a:latin typeface="Aptos"/>
                <a:ea typeface="Aptos"/>
                <a:cs typeface="Aptos"/>
              </a:rPr>
              <a:t>AI Trainee Programme  /  BJIT final project  /  October 2026</a:t>
            </a:r>
            <a:endParaRPr sz="90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9E11DF0-96A3-44CC-91FA-10035BC1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4472" y="6519672"/>
            <a:ext cx="9601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30">
                <a:solidFill>
                  <a:srgbClr val="8C9A97"/>
                </a:solidFill>
                <a:latin typeface="Aptos"/>
                <a:ea typeface="Aptos"/>
                <a:cs typeface="Aptos"/>
              </a:rPr>
              <a:t>07 / 18</a:t>
            </a:r>
            <a:endParaRPr sz="93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787B0B85-158E-493D-B3BB-4E330983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2057400"/>
            <a:ext cx="5568696" cy="859536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7E2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F8B72A5D-DCD9-43FF-B59A-58828A5D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21992"/>
            <a:ext cx="64008" cy="5212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C6A"/>
          </a:solidFill>
          <a:ln xmlns:a="http://schemas.openxmlformats.org/drawingml/2006/main" w="12700">
            <a:solidFill>
              <a:srgbClr val="197C6A">
                <a:alpha val="0"/>
              </a:srgbClr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13C4EA0C-D8B5-4572-A54D-A2057B4F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2157984"/>
            <a:ext cx="1581912" cy="1920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60" b="1" spc="70">
                <a:solidFill>
                  <a:srgbClr val="197C6A"/>
                </a:solidFill>
                <a:latin typeface="Aptos"/>
                <a:ea typeface="Aptos"/>
                <a:cs typeface="Aptos"/>
              </a:rPr>
              <a:t>FRONTEND</a:t>
            </a:r>
            <a:endParaRPr sz="106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E8466E3-2E83-409D-A136-61B687E32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6312" y="2148840"/>
            <a:ext cx="35021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20" b="1">
                <a:solidFill>
                  <a:srgbClr val="193D38"/>
                </a:solidFill>
                <a:latin typeface="Aptos"/>
                <a:ea typeface="Aptos"/>
                <a:cs typeface="Aptos"/>
              </a:rPr>
              <a:t>React, TypeScript, Vite</a:t>
            </a:r>
            <a:endParaRPr sz="142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BA3948E-E079-403D-A310-5C5522C66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2542032"/>
            <a:ext cx="4992624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20">
                <a:solidFill>
                  <a:srgbClr val="5A706B"/>
                </a:solidFill>
                <a:latin typeface="Aptos"/>
                <a:ea typeface="Aptos"/>
                <a:cs typeface="Aptos"/>
              </a:rPr>
              <a:t>Browser UI, responsive workflow, typed API views</a:t>
            </a:r>
            <a:endParaRPr sz="112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D8EEC059-F3DA-442D-9BA0-F5F893154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2057400"/>
            <a:ext cx="5568696" cy="859536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7E2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C7AB715-4C17-47FA-9FAC-E8BEB26E3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2221992"/>
            <a:ext cx="64008" cy="5212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C6A"/>
          </a:solidFill>
          <a:ln xmlns:a="http://schemas.openxmlformats.org/drawingml/2006/main" w="12700">
            <a:solidFill>
              <a:srgbClr val="197C6A">
                <a:alpha val="0"/>
              </a:srgbClr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58350426-05E9-46EB-BF86-B079CB31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9128" y="2157984"/>
            <a:ext cx="1581912" cy="1920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60" b="1" spc="70">
                <a:solidFill>
                  <a:srgbClr val="197C6A"/>
                </a:solidFill>
                <a:latin typeface="Aptos"/>
                <a:ea typeface="Aptos"/>
                <a:cs typeface="Aptos"/>
              </a:rPr>
              <a:t>BACKEND</a:t>
            </a:r>
            <a:endParaRPr sz="106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997953DA-A62E-4CF4-BE93-29DCEFB3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6176" y="2148840"/>
            <a:ext cx="35021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20" b="1">
                <a:solidFill>
                  <a:srgbClr val="193D38"/>
                </a:solidFill>
                <a:latin typeface="Aptos"/>
                <a:ea typeface="Aptos"/>
                <a:cs typeface="Aptos"/>
              </a:rPr>
              <a:t>Python, FastAPI, Pydantic</a:t>
            </a:r>
            <a:endParaRPr sz="142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73620D71-EF68-48ED-82EF-6855C585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9128" y="2542032"/>
            <a:ext cx="4992624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20">
                <a:solidFill>
                  <a:srgbClr val="5A706B"/>
                </a:solidFill>
                <a:latin typeface="Aptos"/>
                <a:ea typeface="Aptos"/>
                <a:cs typeface="Aptos"/>
              </a:rPr>
              <a:t>APIs, contracts, access control and validation</a:t>
            </a:r>
            <a:endParaRPr sz="112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0E117DD6-83CD-4AEC-828F-FEB84AE0E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3026664"/>
            <a:ext cx="5568696" cy="859536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7E2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4214D087-074C-4017-9FF1-743DAAB4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91256"/>
            <a:ext cx="64008" cy="5212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C6A"/>
          </a:solidFill>
          <a:ln xmlns:a="http://schemas.openxmlformats.org/drawingml/2006/main" w="12700">
            <a:solidFill>
              <a:srgbClr val="197C6A">
                <a:alpha val="0"/>
              </a:srgbClr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4158E99C-F2BC-4FF2-9022-153DC676E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3127248"/>
            <a:ext cx="1581912" cy="1920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60" b="1" spc="70">
                <a:solidFill>
                  <a:srgbClr val="197C6A"/>
                </a:solidFill>
                <a:latin typeface="Aptos"/>
                <a:ea typeface="Aptos"/>
                <a:cs typeface="Aptos"/>
              </a:rPr>
              <a:t>AGENTIC AI</a:t>
            </a:r>
            <a:endParaRPr sz="106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07E44342-B295-483F-B435-37B70D3F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6312" y="3118104"/>
            <a:ext cx="35021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20" b="1">
                <a:solidFill>
                  <a:srgbClr val="193D38"/>
                </a:solidFill>
                <a:latin typeface="Aptos"/>
                <a:ea typeface="Aptos"/>
                <a:cs typeface="Aptos"/>
              </a:rPr>
              <a:t>LangGraph, Groq API</a:t>
            </a:r>
            <a:endParaRPr sz="142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35F821FA-C74B-4CA7-B94D-CA66CF22B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3511296"/>
            <a:ext cx="4992624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20">
                <a:solidFill>
                  <a:srgbClr val="5A706B"/>
                </a:solidFill>
                <a:latin typeface="Aptos"/>
                <a:ea typeface="Aptos"/>
                <a:cs typeface="Aptos"/>
              </a:rPr>
              <a:t>Explicit state transitions + approved free-tier inference</a:t>
            </a:r>
            <a:endParaRPr sz="112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F8617B08-1A68-4A69-9973-6E8BA9A5E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3026664"/>
            <a:ext cx="5568696" cy="859536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7E2"/>
            </a:solidFill>
            <a:prstDash val="solid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C3C85E3B-601B-42C9-A1E0-25ED9B2EE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3191256"/>
            <a:ext cx="64008" cy="5212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C6A"/>
          </a:solidFill>
          <a:ln xmlns:a="http://schemas.openxmlformats.org/drawingml/2006/main" w="12700">
            <a:solidFill>
              <a:srgbClr val="197C6A">
                <a:alpha val="0"/>
              </a:srgbClr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A392637D-7CDA-437F-BA4C-8C12E61A1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9128" y="3127248"/>
            <a:ext cx="1581912" cy="1920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60" b="1" spc="70">
                <a:solidFill>
                  <a:srgbClr val="197C6A"/>
                </a:solidFill>
                <a:latin typeface="Aptos"/>
                <a:ea typeface="Aptos"/>
                <a:cs typeface="Aptos"/>
              </a:rPr>
              <a:t>DATABASE</a:t>
            </a:r>
            <a:endParaRPr sz="106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63C9DB81-871F-47D7-8B0C-26BAE38BB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6176" y="3118104"/>
            <a:ext cx="35021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20" b="1">
                <a:solidFill>
                  <a:srgbClr val="193D38"/>
                </a:solidFill>
                <a:latin typeface="Aptos"/>
                <a:ea typeface="Aptos"/>
                <a:cs typeface="Aptos"/>
              </a:rPr>
              <a:t>PostgreSQL + pgvector</a:t>
            </a:r>
            <a:endParaRPr sz="142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BCC79C3C-D549-4535-B032-379FEB93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9128" y="3511296"/>
            <a:ext cx="4992624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20">
                <a:solidFill>
                  <a:srgbClr val="5A706B"/>
                </a:solidFill>
                <a:latin typeface="Aptos"/>
                <a:ea typeface="Aptos"/>
                <a:cs typeface="Aptos"/>
              </a:rPr>
              <a:t>Persistent jobs, CV evidence, scoring and transcripts</a:t>
            </a:r>
            <a:endParaRPr sz="112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91F14962-4596-4277-94BA-4EF5863C7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3995928"/>
            <a:ext cx="5568696" cy="859536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7E2"/>
            </a:solidFill>
            <a:prstDash val="solid"/>
          </a:ln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B52352F3-F884-4194-B9F0-8A0A24789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160520"/>
            <a:ext cx="64008" cy="5212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84B"/>
          </a:solidFill>
          <a:ln xmlns:a="http://schemas.openxmlformats.org/drawingml/2006/main" w="12700">
            <a:solidFill>
              <a:srgbClr val="F1B84B">
                <a:alpha val="0"/>
              </a:srgbClr>
            </a:solidFill>
            <a:prstDash val="solid"/>
          </a:ln>
        </p:spPr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C50B7A56-4016-431B-913B-65851E04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4096512"/>
            <a:ext cx="1581912" cy="1920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60" b="1" spc="70">
                <a:solidFill>
                  <a:srgbClr val="197C6A"/>
                </a:solidFill>
                <a:latin typeface="Aptos"/>
                <a:ea typeface="Aptos"/>
                <a:cs typeface="Aptos"/>
              </a:rPr>
              <a:t>LIVE INTERVIEW</a:t>
            </a:r>
            <a:endParaRPr sz="106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F849EF41-6F2B-4CCD-BE47-9701DF8B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6312" y="4087368"/>
            <a:ext cx="35021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20" b="1">
                <a:solidFill>
                  <a:srgbClr val="193D38"/>
                </a:solidFill>
                <a:latin typeface="Aptos"/>
                <a:ea typeface="Aptos"/>
                <a:cs typeface="Aptos"/>
              </a:rPr>
              <a:t>LiveKit / WebRTC</a:t>
            </a:r>
            <a:endParaRPr sz="142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386BA822-E53D-4CDF-908E-6CE5B8A3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4480560"/>
            <a:ext cx="4992624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20">
                <a:solidFill>
                  <a:srgbClr val="5A706B"/>
                </a:solidFill>
                <a:latin typeface="Aptos"/>
                <a:ea typeface="Aptos"/>
                <a:cs typeface="Aptos"/>
              </a:rPr>
              <a:t>Scoped real-time audio and video transport</a:t>
            </a:r>
            <a:endParaRPr sz="1120"/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A7CF5856-5B65-4BC0-A2A7-93E8C4BF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3995928"/>
            <a:ext cx="5568696" cy="859536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7E2"/>
            </a:solidFill>
            <a:prstDash val="solid"/>
          </a:ln>
        </p:spPr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5029C1B6-E686-4D40-A74E-82F96774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4160520"/>
            <a:ext cx="64008" cy="5212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84B"/>
          </a:solidFill>
          <a:ln xmlns:a="http://schemas.openxmlformats.org/drawingml/2006/main" w="12700">
            <a:solidFill>
              <a:srgbClr val="F1B84B">
                <a:alpha val="0"/>
              </a:srgbClr>
            </a:solidFill>
            <a:prstDash val="solid"/>
          </a:ln>
        </p:spPr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89160B4A-9CB1-49B9-93E0-5B0630C9C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9128" y="4096512"/>
            <a:ext cx="1581912" cy="1920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60" b="1" spc="70">
                <a:solidFill>
                  <a:srgbClr val="197C6A"/>
                </a:solidFill>
                <a:latin typeface="Aptos"/>
                <a:ea typeface="Aptos"/>
                <a:cs typeface="Aptos"/>
              </a:rPr>
              <a:t>TRANSCRIPTION</a:t>
            </a:r>
            <a:endParaRPr sz="1060"/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62730308-3FF2-4D78-92A8-D7EDE3BE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6176" y="4087368"/>
            <a:ext cx="35021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20" b="1">
                <a:solidFill>
                  <a:srgbClr val="193D38"/>
                </a:solidFill>
                <a:latin typeface="Aptos"/>
                <a:ea typeface="Aptos"/>
                <a:cs typeface="Aptos"/>
              </a:rPr>
              <a:t>AssemblyAI; existing local Whisper path</a:t>
            </a:r>
            <a:endParaRPr sz="1420"/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8962F1F1-7386-4F3B-8C60-955615E60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9128" y="4480560"/>
            <a:ext cx="4992624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20">
                <a:solidFill>
                  <a:srgbClr val="5A706B"/>
                </a:solidFill>
                <a:latin typeface="Aptos"/>
                <a:ea typeface="Aptos"/>
                <a:cs typeface="Aptos"/>
              </a:rPr>
              <a:t>Speaker-labelled speech pipeline; live completion pending</a:t>
            </a:r>
            <a:endParaRPr sz="1120"/>
          </a:p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CE7FC196-ABA4-4A3C-AF82-FC20C3EB6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4965192"/>
            <a:ext cx="5568696" cy="859536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7E2"/>
            </a:solidFill>
            <a:prstDash val="solid"/>
          </a:ln>
        </p:spPr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027EFA54-BFDB-4152-9B34-26B931A0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129784"/>
            <a:ext cx="64008" cy="5212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997"/>
          </a:solidFill>
          <a:ln xmlns:a="http://schemas.openxmlformats.org/drawingml/2006/main" w="12700">
            <a:solidFill>
              <a:srgbClr val="587997">
                <a:alpha val="0"/>
              </a:srgbClr>
            </a:solidFill>
            <a:prstDash val="solid"/>
          </a:ln>
        </p:spPr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F9859C33-772D-4464-B02B-03AEF179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5065776"/>
            <a:ext cx="1581912" cy="1920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60" b="1" spc="70">
                <a:solidFill>
                  <a:srgbClr val="197C6A"/>
                </a:solidFill>
                <a:latin typeface="Aptos"/>
                <a:ea typeface="Aptos"/>
                <a:cs typeface="Aptos"/>
              </a:rPr>
              <a:t>DOCUMENTS</a:t>
            </a:r>
            <a:endParaRPr sz="1060"/>
          </a:p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7532FE0C-FFBF-4B55-9D86-1C0A1759B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6312" y="5056632"/>
            <a:ext cx="35021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20" b="1">
                <a:solidFill>
                  <a:srgbClr val="193D38"/>
                </a:solidFill>
                <a:latin typeface="Aptos"/>
                <a:ea typeface="Aptos"/>
                <a:cs typeface="Aptos"/>
              </a:rPr>
              <a:t>PyMuPDF + Tesseract</a:t>
            </a:r>
            <a:endParaRPr sz="1420"/>
          </a:p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89E28079-E92F-4B19-9095-A3C3CCCC7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5449824"/>
            <a:ext cx="4992624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20">
                <a:solidFill>
                  <a:srgbClr val="5A706B"/>
                </a:solidFill>
                <a:latin typeface="Aptos"/>
                <a:ea typeface="Aptos"/>
                <a:cs typeface="Aptos"/>
              </a:rPr>
              <a:t>PDF text extraction and scanned-page OCR</a:t>
            </a:r>
            <a:endParaRPr sz="1120"/>
          </a:p>
        </p:txBody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9B0C82A3-FD31-4E09-9942-15E5A80F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4965192"/>
            <a:ext cx="5568696" cy="859536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7E2"/>
            </a:solidFill>
            <a:prstDash val="solid"/>
          </a:ln>
        </p:spPr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52E8DD4A-A0F8-4349-9FCF-6656DDA8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5129784"/>
            <a:ext cx="64008" cy="5212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997"/>
          </a:solidFill>
          <a:ln xmlns:a="http://schemas.openxmlformats.org/drawingml/2006/main" w="12700">
            <a:solidFill>
              <a:srgbClr val="587997">
                <a:alpha val="0"/>
              </a:srgbClr>
            </a:solidFill>
            <a:prstDash val="solid"/>
          </a:ln>
        </p:spPr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8D682840-BEF4-4D27-AD61-72A058E8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9128" y="5065776"/>
            <a:ext cx="1581912" cy="1920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60" b="1" spc="70">
                <a:solidFill>
                  <a:srgbClr val="197C6A"/>
                </a:solidFill>
                <a:latin typeface="Aptos"/>
                <a:ea typeface="Aptos"/>
                <a:cs typeface="Aptos"/>
              </a:rPr>
              <a:t>DELIVERY</a:t>
            </a:r>
            <a:endParaRPr sz="1060"/>
          </a:p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DDB8F4A4-A36C-47AD-9583-EB2DD04DD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6176" y="5056632"/>
            <a:ext cx="35021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20" b="1">
                <a:solidFill>
                  <a:srgbClr val="193D38"/>
                </a:solidFill>
                <a:latin typeface="Aptos"/>
                <a:ea typeface="Aptos"/>
                <a:cs typeface="Aptos"/>
              </a:rPr>
              <a:t>Docker Compose, Git, GitHub</a:t>
            </a:r>
            <a:endParaRPr sz="1420"/>
          </a:p>
        </p:txBody>
      </p:sp>
      <p:sp>
        <p:nvSpPr>
          <p:cNvPr id="53" name="Text 51">
            <a:extLst xmlns:a="http://schemas.openxmlformats.org/drawingml/2006/main">
              <a:ext uri="{FF2B5EF4-FFF2-40B4-BE49-F238E27FC236}">
                <a16:creationId xmlns:a16="http://schemas.microsoft.com/office/drawing/2014/main" id="{6B987AFD-0E0B-4231-9DC6-13E01E566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9128" y="5449824"/>
            <a:ext cx="4992624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20">
                <a:solidFill>
                  <a:srgbClr val="5A706B"/>
                </a:solidFill>
                <a:latin typeface="Aptos"/>
                <a:ea typeface="Aptos"/>
                <a:cs typeface="Aptos"/>
              </a:rPr>
              <a:t>Versioned services, reproducible setup, traceable commits</a:t>
            </a:r>
            <a:endParaRPr sz="1120"/>
          </a:p>
        </p:txBody>
      </p:sp>
    </p:spTree>
    <p:extLst>
      <p:ext uri="{BB962C8B-B14F-4D97-AF65-F5344CB8AC3E}">
        <p14:creationId xmlns:p14="http://schemas.microsoft.com/office/powerpoint/2010/main" val="184315371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671AC13-E022-4594-9B6D-6130DC26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F7FAF8"/>
          </a:solidFill>
          <a:ln xmlns:a="http://schemas.openxmlformats.org/drawingml/2006/main" w="12700">
            <a:solidFill>
              <a:srgbClr val="F7FAF8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4B8DBE2-1EE5-4405-AF05-08B08685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2296" cy="6858000"/>
          </a:xfrm>
          <a:prstGeom xmlns:a="http://schemas.openxmlformats.org/drawingml/2006/main" prst="roundRect">
            <a:avLst>
              <a:gd name="adj" fmla="val 177778"/>
            </a:avLst>
          </a:prstGeom>
          <a:solidFill xmlns:a="http://schemas.openxmlformats.org/drawingml/2006/main">
            <a:srgbClr val="104D43"/>
          </a:solidFill>
          <a:ln xmlns:a="http://schemas.openxmlformats.org/drawingml/2006/main" w="12700">
            <a:solidFill>
              <a:srgbClr val="104D43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1727C30-86FC-4259-831E-088456A2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393192" cy="393192"/>
          </a:xfrm>
          <a:prstGeom xmlns:a="http://schemas.openxmlformats.org/drawingml/2006/main" prst="roundRect">
            <a:avLst>
              <a:gd name="adj" fmla="val 23256"/>
            </a:avLst>
          </a:prstGeom>
          <a:solidFill xmlns:a="http://schemas.openxmlformats.org/drawingml/2006/main">
            <a:srgbClr val="197C6A"/>
          </a:solidFill>
          <a:ln xmlns:a="http://schemas.openxmlformats.org/drawingml/2006/main" w="12700">
            <a:solidFill>
              <a:srgbClr val="197C6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E9A5DB3-DFC5-4A24-8515-74B3F43E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4904"/>
            <a:ext cx="39319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</a:t>
            </a:r>
            <a:endParaRPr sz="2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434D98C-5AEF-4C41-AAF2-A2D3B670E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" y="374904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 spc="90">
                <a:solidFill>
                  <a:srgbClr val="104D43"/>
                </a:solidFill>
                <a:latin typeface="Aptos"/>
                <a:ea typeface="Aptos"/>
                <a:cs typeface="Aptos"/>
              </a:rPr>
              <a:t>TALENTTRACE AI</a:t>
            </a:r>
            <a:endParaRPr sz="12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F9291BC-BD52-4529-9BA0-FC8B6F62D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402336"/>
            <a:ext cx="23774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30" b="1" spc="100">
                <a:solidFill>
                  <a:srgbClr val="5A706B"/>
                </a:solidFill>
                <a:latin typeface="Aptos"/>
                <a:ea typeface="Aptos"/>
                <a:cs typeface="Aptos"/>
              </a:rPr>
              <a:t>END-TO-END JOURNEY</a:t>
            </a:r>
            <a:endParaRPr sz="103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8E1D29E9-0194-4BC6-8E20-EF4DA8A3D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77824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CE7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B32DE44-717E-429A-9516-62FD64CA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1060704"/>
            <a:ext cx="1106424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50" b="1">
                <a:solidFill>
                  <a:srgbClr val="104D43"/>
                </a:solidFill>
                <a:latin typeface="Aptos"/>
                <a:ea typeface="Aptos"/>
                <a:cs typeface="Aptos"/>
              </a:rPr>
              <a:t>Workflow / process flow</a:t>
            </a:r>
            <a:endParaRPr sz="27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C44DFDD-AA85-4FBD-A152-A8D9674BD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18488"/>
            <a:ext cx="10881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5A706B"/>
                </a:solidFill>
                <a:latin typeface="Aptos"/>
                <a:ea typeface="Aptos"/>
                <a:cs typeface="Aptos"/>
              </a:rPr>
              <a:t>Connected recruiter journey; the full live F4-to-F5/F11 path remains partial.</a:t>
            </a:r>
            <a:endParaRPr sz="14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0D114718-A432-4E62-BEE9-C1D7FEC9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446520"/>
            <a:ext cx="111282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DCE7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A617F33-8901-45A9-89DE-6622CFBE6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6519672"/>
            <a:ext cx="7863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900">
                <a:solidFill>
                  <a:srgbClr val="8C9A97"/>
                </a:solidFill>
                <a:latin typeface="Aptos"/>
                <a:ea typeface="Aptos"/>
                <a:cs typeface="Aptos"/>
              </a:rPr>
              <a:t>AI Trainee Programme  /  BJIT final project  /  October 2026</a:t>
            </a:r>
            <a:endParaRPr sz="90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66E4A4F-BF02-4CBD-98C7-9E460047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4472" y="6519672"/>
            <a:ext cx="9601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30">
                <a:solidFill>
                  <a:srgbClr val="8C9A97"/>
                </a:solidFill>
                <a:latin typeface="Aptos"/>
                <a:ea typeface="Aptos"/>
                <a:cs typeface="Aptos"/>
              </a:rPr>
              <a:t>08 / 18</a:t>
            </a:r>
            <a:endParaRPr sz="93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D6DBF53F-96AA-495D-8C9C-F95944CD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2176272"/>
            <a:ext cx="2697480" cy="1508760"/>
          </a:xfrm>
          <a:prstGeom xmlns:a="http://schemas.openxmlformats.org/drawingml/2006/main" prst="roundRect">
            <a:avLst>
              <a:gd name="adj" fmla="val 96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7E2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C357D57-B24C-4F3A-A8E4-C1261812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340864"/>
            <a:ext cx="429768" cy="4297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C6A"/>
          </a:solidFill>
          <a:ln xmlns:a="http://schemas.openxmlformats.org/drawingml/2006/main" w="12700">
            <a:solidFill>
              <a:srgbClr val="197C6A">
                <a:alpha val="0"/>
              </a:srgbClr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85E2A86-1254-460D-B74B-7F24CDC6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432304"/>
            <a:ext cx="4297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  <a:endParaRPr sz="15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0CA0122-9BF8-4B6A-AC19-7F2AC4FC3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871216"/>
            <a:ext cx="2368296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20" b="1">
                <a:solidFill>
                  <a:srgbClr val="193D38"/>
                </a:solidFill>
                <a:latin typeface="Aptos"/>
                <a:ea typeface="Aptos"/>
                <a:cs typeface="Aptos"/>
              </a:rPr>
              <a:t>Create and review job</a:t>
            </a:r>
            <a:endParaRPr sz="142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ABB1BB6-5CA1-402B-ABC8-1CE9A52E7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200400"/>
            <a:ext cx="2377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20">
                <a:solidFill>
                  <a:srgbClr val="5A706B"/>
                </a:solidFill>
                <a:latin typeface="Aptos"/>
                <a:ea typeface="Aptos"/>
                <a:cs typeface="Aptos"/>
              </a:rPr>
              <a:t>Groq JD → stable Job Reference</a:t>
            </a:r>
            <a:endParaRPr sz="112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AC438693-C831-4DC4-B92B-2A8653CFF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953512"/>
            <a:ext cx="137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197C6A"/>
            </a:solidFill>
            <a:prstDash val="solid"/>
            <a:headEnd type="none"/>
            <a:tailEnd type="triangle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E6B35453-6D1C-4759-A7E6-6E70F3E1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864" y="2176272"/>
            <a:ext cx="2697480" cy="1508760"/>
          </a:xfrm>
          <a:prstGeom xmlns:a="http://schemas.openxmlformats.org/drawingml/2006/main" prst="roundRect">
            <a:avLst>
              <a:gd name="adj" fmla="val 96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7E2"/>
            </a:solidFill>
            <a:prstDash val="solid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97261DB2-9C6D-412F-AB16-3FEE25F0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2340864"/>
            <a:ext cx="429768" cy="4297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C6A"/>
          </a:solidFill>
          <a:ln xmlns:a="http://schemas.openxmlformats.org/drawingml/2006/main" w="12700">
            <a:solidFill>
              <a:srgbClr val="197C6A">
                <a:alpha val="0"/>
              </a:srgbClr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990F0300-C01B-4C72-82EF-4C780628C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2432304"/>
            <a:ext cx="4297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  <a:endParaRPr sz="15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6E73CE52-8B96-41C7-B390-A7723FA78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456" y="2871216"/>
            <a:ext cx="2368296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20" b="1">
                <a:solidFill>
                  <a:srgbClr val="193D38"/>
                </a:solidFill>
                <a:latin typeface="Aptos"/>
                <a:ea typeface="Aptos"/>
                <a:cs typeface="Aptos"/>
              </a:rPr>
              <a:t>Add candidate CVs</a:t>
            </a:r>
            <a:endParaRPr sz="142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0C56F547-603D-4C9B-9EEA-97EB0490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456" y="3200400"/>
            <a:ext cx="2377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20">
                <a:solidFill>
                  <a:srgbClr val="5A706B"/>
                </a:solidFill>
                <a:latin typeface="Aptos"/>
                <a:ea typeface="Aptos"/>
                <a:cs typeface="Aptos"/>
              </a:rPr>
              <a:t>Upload / approved imports; OCR</a:t>
            </a:r>
            <a:endParaRPr sz="112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F9C59BC1-C0DC-43B1-8C7E-DB5D16B0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2953512"/>
            <a:ext cx="137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197C6A"/>
            </a:solidFill>
            <a:prstDash val="solid"/>
            <a:headEnd type="none"/>
            <a:tailEnd type="triangle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6EEB96B1-5FE1-42F3-A007-A9DD4C887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2176272"/>
            <a:ext cx="2697480" cy="1508760"/>
          </a:xfrm>
          <a:prstGeom xmlns:a="http://schemas.openxmlformats.org/drawingml/2006/main" prst="roundRect">
            <a:avLst>
              <a:gd name="adj" fmla="val 96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7E2"/>
            </a:solidFill>
            <a:prstDash val="solid"/>
          </a:ln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6467CF3C-8550-4F8D-A4F7-3D7FC881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340864"/>
            <a:ext cx="429768" cy="4297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C6A"/>
          </a:solidFill>
          <a:ln xmlns:a="http://schemas.openxmlformats.org/drawingml/2006/main" w="12700">
            <a:solidFill>
              <a:srgbClr val="197C6A">
                <a:alpha val="0"/>
              </a:srgbClr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C4C176AA-C1F2-4B27-85C7-C00795F1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432304"/>
            <a:ext cx="4297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  <a:endParaRPr sz="15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D902ED90-B66A-4303-A2D0-28B8E79A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2871216"/>
            <a:ext cx="2368296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20" b="1">
                <a:solidFill>
                  <a:srgbClr val="193D38"/>
                </a:solidFill>
                <a:latin typeface="Aptos"/>
                <a:ea typeface="Aptos"/>
                <a:cs typeface="Aptos"/>
              </a:rPr>
              <a:t>Screen and review</a:t>
            </a:r>
            <a:endParaRPr sz="142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C1F0B3AE-7C72-44D2-BAA4-9DAE7C45E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3200400"/>
            <a:ext cx="2377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20">
                <a:solidFill>
                  <a:srgbClr val="5A706B"/>
                </a:solidFill>
                <a:latin typeface="Aptos"/>
                <a:ea typeface="Aptos"/>
                <a:cs typeface="Aptos"/>
              </a:rPr>
              <a:t>Groq analysis + weighted evidence</a:t>
            </a:r>
            <a:endParaRPr sz="112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7096E70E-A21A-4C4C-9FEB-10649749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2953512"/>
            <a:ext cx="137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197C6A"/>
            </a:solidFill>
            <a:prstDash val="solid"/>
            <a:headEnd type="none"/>
            <a:tailEnd type="triangle"/>
          </a:ln>
        </p:spPr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22467634-FA95-4B17-A6B2-86FE4AF38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2176272"/>
            <a:ext cx="2697480" cy="1508760"/>
          </a:xfrm>
          <a:prstGeom xmlns:a="http://schemas.openxmlformats.org/drawingml/2006/main" prst="roundRect">
            <a:avLst>
              <a:gd name="adj" fmla="val 96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7E2"/>
            </a:solidFill>
            <a:prstDash val="solid"/>
          </a:ln>
        </p:spPr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9CC7FC53-12C1-4253-9817-55796388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6608" y="2340864"/>
            <a:ext cx="429768" cy="4297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C6A"/>
          </a:solidFill>
          <a:ln xmlns:a="http://schemas.openxmlformats.org/drawingml/2006/main" w="12700">
            <a:solidFill>
              <a:srgbClr val="197C6A">
                <a:alpha val="0"/>
              </a:srgbClr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FF53DD3C-6278-4F52-B30B-B8558C5E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6608" y="2432304"/>
            <a:ext cx="4297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  <a:endParaRPr sz="15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3FBBE28C-AE59-4FBE-B77D-AD67AEE1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5752" y="2871216"/>
            <a:ext cx="2368296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20" b="1">
                <a:solidFill>
                  <a:srgbClr val="193D38"/>
                </a:solidFill>
                <a:latin typeface="Aptos"/>
                <a:ea typeface="Aptos"/>
                <a:cs typeface="Aptos"/>
              </a:rPr>
              <a:t>Select and book</a:t>
            </a:r>
            <a:endParaRPr sz="142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E845CE71-D512-4B1E-8197-06DDA7EF6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5752" y="3200400"/>
            <a:ext cx="2377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20">
                <a:solidFill>
                  <a:srgbClr val="5A706B"/>
                </a:solidFill>
                <a:latin typeface="Aptos"/>
                <a:ea typeface="Aptos"/>
                <a:cs typeface="Aptos"/>
              </a:rPr>
              <a:t>Human review → scheduled slot</a:t>
            </a:r>
            <a:endParaRPr sz="1120"/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77703E27-874D-432B-AACD-F5795F4A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4160520"/>
            <a:ext cx="3511296" cy="1508760"/>
          </a:xfrm>
          <a:prstGeom xmlns:a="http://schemas.openxmlformats.org/drawingml/2006/main" prst="roundRect">
            <a:avLst>
              <a:gd name="adj" fmla="val 96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7E2"/>
            </a:solidFill>
            <a:prstDash val="solid"/>
          </a:ln>
        </p:spPr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ECE092C6-7A6E-47C0-8657-869E77B8A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325112"/>
            <a:ext cx="429768" cy="4297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4D43"/>
          </a:solidFill>
          <a:ln xmlns:a="http://schemas.openxmlformats.org/drawingml/2006/main" w="12700">
            <a:solidFill>
              <a:srgbClr val="104D43">
                <a:alpha val="0"/>
              </a:srgbClr>
            </a:solidFill>
            <a:prstDash val="solid"/>
          </a:ln>
        </p:spPr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99038C73-951E-4060-ADC0-4B9176EB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416552"/>
            <a:ext cx="4297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  <a:endParaRPr sz="1500"/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A55EC897-AB7A-40E8-8812-0236FDA75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855464"/>
            <a:ext cx="3182112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20" b="1">
                <a:solidFill>
                  <a:srgbClr val="193D38"/>
                </a:solidFill>
                <a:latin typeface="Aptos"/>
                <a:ea typeface="Aptos"/>
                <a:cs typeface="Aptos"/>
              </a:rPr>
              <a:t>Conduct interview</a:t>
            </a:r>
            <a:endParaRPr sz="1420"/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8D2BF290-E6E6-456E-8B0F-3A0CA800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184648"/>
            <a:ext cx="3191256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20">
                <a:solidFill>
                  <a:srgbClr val="5A706B"/>
                </a:solidFill>
                <a:latin typeface="Aptos"/>
                <a:ea typeface="Aptos"/>
                <a:cs typeface="Aptos"/>
              </a:rPr>
              <a:t>LiveKit recruiter + candidate</a:t>
            </a:r>
            <a:endParaRPr sz="1120"/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82578067-E48B-4DF7-9593-3A75D772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088" y="4937760"/>
            <a:ext cx="1828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197C6A"/>
            </a:solidFill>
            <a:prstDash val="solid"/>
            <a:headEnd type="none"/>
            <a:tailEnd type="triangle"/>
          </a:ln>
        </p:spPr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772BFBAB-F995-45BD-9557-B52E8810B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4160520"/>
            <a:ext cx="3511296" cy="1508760"/>
          </a:xfrm>
          <a:prstGeom xmlns:a="http://schemas.openxmlformats.org/drawingml/2006/main" prst="roundRect">
            <a:avLst>
              <a:gd name="adj" fmla="val 96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7E2"/>
            </a:solidFill>
            <a:prstDash val="solid"/>
          </a:ln>
        </p:spPr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643F31CF-8405-4898-88A0-E83D5BE62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25112"/>
            <a:ext cx="429768" cy="4297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4D43"/>
          </a:solidFill>
          <a:ln xmlns:a="http://schemas.openxmlformats.org/drawingml/2006/main" w="12700">
            <a:solidFill>
              <a:srgbClr val="104D43">
                <a:alpha val="0"/>
              </a:srgbClr>
            </a:solidFill>
            <a:prstDash val="solid"/>
          </a:ln>
        </p:spPr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1EAC1EE0-675E-4FED-8AB6-E42503185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16552"/>
            <a:ext cx="4297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  <a:endParaRPr sz="1500"/>
          </a:p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218D883E-1A4C-490A-93AE-A76A226A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144" y="4855464"/>
            <a:ext cx="3182112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20" b="1">
                <a:solidFill>
                  <a:srgbClr val="193D38"/>
                </a:solidFill>
                <a:latin typeface="Aptos"/>
                <a:ea typeface="Aptos"/>
                <a:cs typeface="Aptos"/>
              </a:rPr>
              <a:t>Interpret interview</a:t>
            </a:r>
            <a:endParaRPr sz="1420"/>
          </a:p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CDA154C6-B162-49CC-8964-F0F9D126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144" y="5184648"/>
            <a:ext cx="3191256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20">
                <a:solidFill>
                  <a:srgbClr val="5A706B"/>
                </a:solidFill>
                <a:latin typeface="Aptos"/>
                <a:ea typeface="Aptos"/>
                <a:cs typeface="Aptos"/>
              </a:rPr>
              <a:t>Consented STT → grounded Q&amp;A</a:t>
            </a:r>
            <a:endParaRPr sz="1120"/>
          </a:p>
        </p:txBody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21E1AB5D-7D45-4E66-870E-05EC2ACB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6992" y="4937760"/>
            <a:ext cx="1828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197C6A"/>
            </a:solidFill>
            <a:prstDash val="solid"/>
            <a:headEnd type="none"/>
            <a:tailEnd type="triangle"/>
          </a:ln>
        </p:spPr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D1C06D13-8492-442C-BAEF-907D1DB1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4160520"/>
            <a:ext cx="3511296" cy="1508760"/>
          </a:xfrm>
          <a:prstGeom xmlns:a="http://schemas.openxmlformats.org/drawingml/2006/main" prst="roundRect">
            <a:avLst>
              <a:gd name="adj" fmla="val 96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7E2"/>
            </a:solidFill>
            <a:prstDash val="solid"/>
          </a:ln>
        </p:spPr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4DEA5E67-40A0-4F7C-9A9D-8FFD5753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4325112"/>
            <a:ext cx="429768" cy="4297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4D43"/>
          </a:solidFill>
          <a:ln xmlns:a="http://schemas.openxmlformats.org/drawingml/2006/main" w="12700">
            <a:solidFill>
              <a:srgbClr val="104D43">
                <a:alpha val="0"/>
              </a:srgbClr>
            </a:solidFill>
            <a:prstDash val="solid"/>
          </a:ln>
        </p:spPr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3234E513-F5C8-4A67-83DF-E6915830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4416552"/>
            <a:ext cx="4297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7</a:t>
            </a:r>
            <a:endParaRPr sz="1500"/>
          </a:p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7B378A1F-0104-4902-92AA-A4D47EEE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4855464"/>
            <a:ext cx="3182112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20" b="1">
                <a:solidFill>
                  <a:srgbClr val="193D38"/>
                </a:solidFill>
                <a:latin typeface="Aptos"/>
                <a:ea typeface="Aptos"/>
                <a:cs typeface="Aptos"/>
              </a:rPr>
              <a:t>Review assessment</a:t>
            </a:r>
            <a:endParaRPr sz="1420"/>
          </a:p>
        </p:txBody>
      </p:sp>
      <p:sp>
        <p:nvSpPr>
          <p:cNvPr id="53" name="Text 51">
            <a:extLst xmlns:a="http://schemas.openxmlformats.org/drawingml/2006/main">
              <a:ext uri="{FF2B5EF4-FFF2-40B4-BE49-F238E27FC236}">
                <a16:creationId xmlns:a16="http://schemas.microsoft.com/office/drawing/2014/main" id="{198E1544-1E64-4ACA-9ACE-D351C91F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5184648"/>
            <a:ext cx="3191256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20">
                <a:solidFill>
                  <a:srgbClr val="5A706B"/>
                </a:solidFill>
                <a:latin typeface="Aptos"/>
                <a:ea typeface="Aptos"/>
                <a:cs typeface="Aptos"/>
              </a:rPr>
              <a:t>CV + interview evidence → report</a:t>
            </a:r>
            <a:endParaRPr sz="1120"/>
          </a:p>
        </p:txBody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7D5337F7-8C0E-433B-B909-985E872A1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9688" y="3785616"/>
            <a:ext cx="0" cy="2194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197C6A"/>
            </a:solidFill>
            <a:prstDash val="solid"/>
          </a:ln>
        </p:spPr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01C72307-87C5-4DD1-A14A-278AAB4D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998464"/>
            <a:ext cx="106984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050"/>
            </a:defPPr>
            <a:lvl1pPr>
              <a:buNone/>
              <a:defRPr sz="1050"/>
            </a:lvl1pPr>
            <a:lvl2pPr>
              <a:buNone/>
              <a:defRPr sz="1050"/>
            </a:lvl2pPr>
            <a:lvl3pPr>
              <a:buNone/>
              <a:defRPr sz="1050"/>
            </a:lvl3pPr>
            <a:lvl4pPr>
              <a:buNone/>
              <a:defRPr sz="1050"/>
            </a:lvl4pPr>
            <a:lvl5pPr>
              <a:buNone/>
              <a:defRPr sz="1050"/>
            </a:lvl5pPr>
            <a:lvl6pPr>
              <a:buNone/>
              <a:defRPr sz="1050"/>
            </a:lvl6pPr>
            <a:lvl7pPr>
              <a:buNone/>
              <a:defRPr sz="1050"/>
            </a:lvl7pPr>
            <a:lvl8pPr>
              <a:buNone/>
              <a:defRPr sz="1050"/>
            </a:lvl8pPr>
            <a:lvl9pPr>
              <a:buNone/>
              <a:defRPr sz="1050"/>
            </a:lvl9pPr>
          </a:lstStyle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97C6A"/>
                </a:solidFill>
                <a:latin typeface="Aptos"/>
                <a:ea typeface="Aptos"/>
                <a:cs typeface="Aptos"/>
              </a:rPr>
              <a:t>F11 offers optional provisional follow-ups. Recruiters review evidence and make the hiring decision.</a:t>
            </a:r>
            <a:endParaRPr sz="1150"/>
          </a:p>
        </p:txBody>
      </p:sp>
    </p:spTree>
    <p:extLst>
      <p:ext uri="{BB962C8B-B14F-4D97-AF65-F5344CB8AC3E}">
        <p14:creationId xmlns:p14="http://schemas.microsoft.com/office/powerpoint/2010/main" val="36577349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79849C9-E87C-4F5E-86CD-B2078DEF1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F7FAF8"/>
          </a:solidFill>
          <a:ln xmlns:a="http://schemas.openxmlformats.org/drawingml/2006/main" w="12700">
            <a:solidFill>
              <a:srgbClr val="F7FAF8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6D09F12-E525-4AAE-8479-85C780A9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2296" cy="6858000"/>
          </a:xfrm>
          <a:prstGeom xmlns:a="http://schemas.openxmlformats.org/drawingml/2006/main" prst="roundRect">
            <a:avLst>
              <a:gd name="adj" fmla="val 177778"/>
            </a:avLst>
          </a:prstGeom>
          <a:solidFill xmlns:a="http://schemas.openxmlformats.org/drawingml/2006/main">
            <a:srgbClr val="104D43"/>
          </a:solidFill>
          <a:ln xmlns:a="http://schemas.openxmlformats.org/drawingml/2006/main" w="12700">
            <a:solidFill>
              <a:srgbClr val="104D43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1D7054E-A27B-4956-AB31-3C8324E4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393192" cy="393192"/>
          </a:xfrm>
          <a:prstGeom xmlns:a="http://schemas.openxmlformats.org/drawingml/2006/main" prst="roundRect">
            <a:avLst>
              <a:gd name="adj" fmla="val 23256"/>
            </a:avLst>
          </a:prstGeom>
          <a:solidFill xmlns:a="http://schemas.openxmlformats.org/drawingml/2006/main">
            <a:srgbClr val="197C6A"/>
          </a:solidFill>
          <a:ln xmlns:a="http://schemas.openxmlformats.org/drawingml/2006/main" w="12700">
            <a:solidFill>
              <a:srgbClr val="197C6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DB816F1-064D-4556-81B4-0CA5E5F5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4904"/>
            <a:ext cx="39319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</a:t>
            </a:r>
            <a:endParaRPr sz="2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38846EE-6B59-4E75-B69C-CF33CAAF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" y="374904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 spc="90">
                <a:solidFill>
                  <a:srgbClr val="104D43"/>
                </a:solidFill>
                <a:latin typeface="Aptos"/>
                <a:ea typeface="Aptos"/>
                <a:cs typeface="Aptos"/>
              </a:rPr>
              <a:t>TALENTTRACE AI</a:t>
            </a:r>
            <a:endParaRPr sz="12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8941523-6C6B-4B52-A7D8-DFFB9237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402336"/>
            <a:ext cx="23774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900"/>
            </a:defPPr>
            <a:lvl1pPr>
              <a:buNone/>
              <a:defRPr sz="900"/>
            </a:lvl1pPr>
            <a:lvl2pPr>
              <a:buNone/>
              <a:defRPr sz="900"/>
            </a:lvl2pPr>
            <a:lvl3pPr>
              <a:buNone/>
              <a:defRPr sz="900"/>
            </a:lvl3pPr>
            <a:lvl4pPr>
              <a:buNone/>
              <a:defRPr sz="900"/>
            </a:lvl4pPr>
            <a:lvl5pPr>
              <a:buNone/>
              <a:defRPr sz="900"/>
            </a:lvl5pPr>
            <a:lvl6pPr>
              <a:buNone/>
              <a:defRPr sz="900"/>
            </a:lvl6pPr>
            <a:lvl7pPr>
              <a:buNone/>
              <a:defRPr sz="900"/>
            </a:lvl7pPr>
            <a:lvl8pPr>
              <a:buNone/>
              <a:defRPr sz="900"/>
            </a:lvl8pPr>
            <a:lvl9pPr>
              <a:buNone/>
              <a:defRPr sz="900"/>
            </a:lvl9pPr>
          </a:lstStyle>
          <a:p xmlns:a="http://schemas.openxmlformats.org/drawingml/2006/main">
            <a:pPr marL="0" indent="0" algn="r">
              <a:buNone/>
            </a:pPr>
            <a:r>
              <a:rPr sz="900" b="1" spc="100">
                <a:solidFill>
                  <a:srgbClr val="5A706B"/>
                </a:solidFill>
                <a:latin typeface="Aptos"/>
                <a:ea typeface="Aptos"/>
                <a:cs typeface="Aptos"/>
              </a:rPr>
              <a:t>CAPTURED APPLICATION SCREENS</a:t>
            </a:r>
            <a:endParaRPr sz="103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EDF76E9A-4008-4D48-8E1B-67995E5DB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77824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CE7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CDA8D37-B5CF-4354-B1F8-4ECAA35B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1060704"/>
            <a:ext cx="1106424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2550"/>
            </a:defPPr>
            <a:lvl1pPr>
              <a:buNone/>
              <a:defRPr sz="2550"/>
            </a:lvl1pPr>
            <a:lvl2pPr>
              <a:buNone/>
              <a:defRPr sz="2550"/>
            </a:lvl2pPr>
            <a:lvl3pPr>
              <a:buNone/>
              <a:defRPr sz="2550"/>
            </a:lvl3pPr>
            <a:lvl4pPr>
              <a:buNone/>
              <a:defRPr sz="2550"/>
            </a:lvl4pPr>
            <a:lvl5pPr>
              <a:buNone/>
              <a:defRPr sz="2550"/>
            </a:lvl5pPr>
            <a:lvl6pPr>
              <a:buNone/>
              <a:defRPr sz="2550"/>
            </a:lvl6pPr>
            <a:lvl7pPr>
              <a:buNone/>
              <a:defRPr sz="2550"/>
            </a:lvl7pPr>
            <a:lvl8pPr>
              <a:buNone/>
              <a:defRPr sz="2550"/>
            </a:lvl8pPr>
            <a:lvl9pPr>
              <a:buNone/>
              <a:defRPr sz="2550"/>
            </a:lvl9pPr>
          </a:lstStyle>
          <a:p xmlns:a="http://schemas.openxmlformats.org/drawingml/2006/main">
            <a:pPr marL="0" indent="0" algn="l">
              <a:buNone/>
            </a:pPr>
            <a:r>
              <a:rPr sz="2550" b="1">
                <a:solidFill>
                  <a:srgbClr val="104D43"/>
                </a:solidFill>
                <a:latin typeface="Aptos"/>
                <a:ea typeface="Aptos"/>
                <a:cs typeface="Aptos"/>
              </a:rPr>
              <a:t>UI demonstration: Home and applications</a:t>
            </a:r>
            <a:endParaRPr sz="27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2141663-56DB-4ED6-94B8-44AF310E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18488"/>
            <a:ext cx="10881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275"/>
            </a:defPPr>
            <a:lvl1pPr>
              <a:buNone/>
              <a:defRPr sz="1275"/>
            </a:lvl1pPr>
            <a:lvl2pPr>
              <a:buNone/>
              <a:defRPr sz="1275"/>
            </a:lvl2pPr>
            <a:lvl3pPr>
              <a:buNone/>
              <a:defRPr sz="1275"/>
            </a:lvl3pPr>
            <a:lvl4pPr>
              <a:buNone/>
              <a:defRPr sz="1275"/>
            </a:lvl4pPr>
            <a:lvl5pPr>
              <a:buNone/>
              <a:defRPr sz="1275"/>
            </a:lvl5pPr>
            <a:lvl6pPr>
              <a:buNone/>
              <a:defRPr sz="1275"/>
            </a:lvl6pPr>
            <a:lvl7pPr>
              <a:buNone/>
              <a:defRPr sz="1275"/>
            </a:lvl7pPr>
            <a:lvl8pPr>
              <a:buNone/>
              <a:defRPr sz="1275"/>
            </a:lvl8pPr>
            <a:lvl9pPr>
              <a:buNone/>
              <a:defRPr sz="1275"/>
            </a:lvl9pPr>
          </a:lstStyle>
          <a:p xmlns:a="http://schemas.openxmlformats.org/drawingml/2006/main">
            <a:pPr marL="0" indent="0" algn="l">
              <a:buNone/>
            </a:pPr>
            <a:r>
              <a:rPr sz="1275">
                <a:solidFill>
                  <a:srgbClr val="5A706B"/>
                </a:solidFill>
                <a:latin typeface="Aptos"/>
                <a:ea typeface="Aptos"/>
                <a:cs typeface="Aptos"/>
              </a:rPr>
              <a:t>Actual local browser captures. The desktop and mobile examples use separate synthetic fixtures.</a:t>
            </a:r>
            <a:endParaRPr sz="14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C90F38B-C446-4902-87BE-2D8C4C346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446520"/>
            <a:ext cx="111282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DCE7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A9509B0-FA87-4A88-A60E-4E3DE618F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6519672"/>
            <a:ext cx="7863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900">
                <a:solidFill>
                  <a:srgbClr val="8C9A97"/>
                </a:solidFill>
                <a:latin typeface="Aptos"/>
                <a:ea typeface="Aptos"/>
                <a:cs typeface="Aptos"/>
              </a:rPr>
              <a:t>AI Trainee Programme  /  BJIT final project  /  October 2026</a:t>
            </a:r>
            <a:endParaRPr sz="90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234E3B3-6EC2-4DBB-805C-0853B3868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4472" y="6519672"/>
            <a:ext cx="9601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30">
                <a:solidFill>
                  <a:srgbClr val="8C9A97"/>
                </a:solidFill>
                <a:latin typeface="Aptos"/>
                <a:ea typeface="Aptos"/>
                <a:cs typeface="Aptos"/>
              </a:rPr>
              <a:t>09 / 18</a:t>
            </a:r>
            <a:endParaRPr sz="930"/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9E0146-2C45-4187-9227-0CFA83E4B7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8475e3ab7949d2"/>
          <a:stretch xmlns:a="http://schemas.openxmlformats.org/drawingml/2006/main"/>
        </p:blipFill>
        <p:spPr>
          <a:xfrm xmlns:a="http://schemas.openxmlformats.org/drawingml/2006/main">
            <a:off x="571500" y="2290407"/>
            <a:ext cx="8429625" cy="4039311"/>
          </a:xfrm>
          <a:prstGeom xmlns:a="http://schemas.openxmlformats.org/drawingml/2006/main" prst="rect">
            <a:avLst/>
          </a:prstGeom>
        </p:spPr>
      </p:pic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DA7DA8-AA57-410C-9F84-F8B12E9F56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82524e6c2e4404"/>
          <a:stretch xmlns:a="http://schemas.openxmlformats.org/drawingml/2006/main"/>
        </p:blipFill>
        <p:spPr>
          <a:xfrm xmlns:a="http://schemas.openxmlformats.org/drawingml/2006/main">
            <a:off x="9429750" y="2277407"/>
            <a:ext cx="2209800" cy="3074711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B406C3-2408-4C07-AEA7-FDF1C702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85975"/>
            <a:ext cx="8334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defPPr>
            <a:lvl1pPr>
              <a:buNone/>
              <a:defRPr sz="1200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 sz="1200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2pPr>
            <a:lvl3pPr>
              <a:buNone/>
              <a:defRPr sz="1200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3pPr>
            <a:lvl4pPr>
              <a:buNone/>
              <a:defRPr sz="1200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4pPr>
            <a:lvl5pPr>
              <a:buNone/>
              <a:defRPr sz="1200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5pPr>
            <a:lvl6pPr>
              <a:buNone/>
              <a:defRPr sz="1200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6pPr>
            <a:lvl7pPr>
              <a:buNone/>
              <a:defRPr sz="1200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 sz="1200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8pPr>
            <a:lvl9pPr>
              <a:buNone/>
              <a:defRPr sz="1200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200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4F46"/>
                </a:solidFill>
                <a:latin typeface="Aptos"/>
                <a:ea typeface="Aptos"/>
                <a:cs typeface="Aptos"/>
              </a:rPr>
              <a:t>Saved jobs and a clear next 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70BA2E-794E-4CD9-8F11-5CA511A00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438775"/>
            <a:ext cx="2619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defPPr>
            <a:lvl1pPr>
              <a:buNone/>
              <a:defRPr sz="1200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 sz="1200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2pPr>
            <a:lvl3pPr>
              <a:buNone/>
              <a:defRPr sz="1200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3pPr>
            <a:lvl4pPr>
              <a:buNone/>
              <a:defRPr sz="1200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4pPr>
            <a:lvl5pPr>
              <a:buNone/>
              <a:defRPr sz="1200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5pPr>
            <a:lvl6pPr>
              <a:buNone/>
              <a:defRPr sz="1200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6pPr>
            <a:lvl7pPr>
              <a:buNone/>
              <a:defRPr sz="1200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 sz="1200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8pPr>
            <a:lvl9pPr>
              <a:buNone/>
              <a:defRPr sz="1200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200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4F46"/>
                </a:solidFill>
                <a:latin typeface="Aptos"/>
                <a:ea typeface="Aptos"/>
                <a:cs typeface="Aptos"/>
              </a:rPr>
              <a:t>One approved Google import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8357DD-7537-4D1C-9B1D-F678D6B7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781675"/>
            <a:ext cx="26193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defPPr>
            <a:lvl1pPr>
              <a:buNone/>
              <a:defRPr sz="1050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 sz="1050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2pPr>
            <a:lvl3pPr>
              <a:buNone/>
              <a:defRPr sz="1050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3pPr>
            <a:lvl4pPr>
              <a:buNone/>
              <a:defRPr sz="1050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4pPr>
            <a:lvl5pPr>
              <a:buNone/>
              <a:defRPr sz="1050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5pPr>
            <a:lvl6pPr>
              <a:buNone/>
              <a:defRPr sz="1050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6pPr>
            <a:lvl7pPr>
              <a:buNone/>
              <a:defRPr sz="1050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 sz="1050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8pPr>
            <a:lvl9pPr>
              <a:buNone/>
              <a:defRPr sz="1050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E69"/>
                </a:solidFill>
                <a:latin typeface="Aptos"/>
                <a:ea typeface="Aptos"/>
                <a:cs typeface="Aptos"/>
              </a:rPr>
              <a:t>1 received / 1 new / 1 available</a:t>
            </a:r>
          </a:p>
          <a:p xmlns:a="http://schemas.openxmlformats.org/drawingml/2006/main">
            <a:pPr>
              <a:buNone/>
              <a:defRPr sz="1050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E69"/>
                </a:solidFill>
                <a:latin typeface="Aptos"/>
                <a:ea typeface="Aptos"/>
                <a:cs typeface="Aptos"/>
              </a:rPr>
              <a:t>Snapshot at import, not automatic sync</a:t>
            </a:r>
          </a:p>
        </p:txBody>
      </p:sp>
    </p:spTree>
    <p:extLst>
      <p:ext uri="{BB962C8B-B14F-4D97-AF65-F5344CB8AC3E}">
        <p14:creationId xmlns:p14="http://schemas.microsoft.com/office/powerpoint/2010/main" val="2467002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107F66-B074-41C5-8D83-9CF417854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defPPr>
            <a:lvl1pPr>
              <a:buNone/>
              <a:defRPr sz="142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 sz="142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2pPr>
            <a:lvl3pPr>
              <a:buNone/>
              <a:defRPr sz="142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3pPr>
            <a:lvl4pPr>
              <a:buNone/>
              <a:defRPr sz="142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4pPr>
            <a:lvl5pPr>
              <a:buNone/>
              <a:defRPr sz="142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5pPr>
            <a:lvl6pPr>
              <a:buNone/>
              <a:defRPr sz="142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6pPr>
            <a:lvl7pPr>
              <a:buNone/>
              <a:defRPr sz="142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 sz="142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8pPr>
            <a:lvl9pPr>
              <a:buNone/>
              <a:defRPr sz="142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42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4F46"/>
                </a:solidFill>
                <a:latin typeface="Aptos"/>
                <a:ea typeface="Aptos"/>
                <a:cs typeface="Aptos"/>
              </a:rPr>
              <a:t>TALENTTRACE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A6BC88-600B-4F33-AE51-2C9E135A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81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1">
                <a:solidFill>
                  <a:srgbClr val="536E69"/>
                </a:solidFill>
                <a:latin typeface="Aptos"/>
                <a:ea typeface="Aptos"/>
                <a:cs typeface="Aptos"/>
              </a:defRPr>
            </a:defPPr>
            <a:lvl1pPr algn="r">
              <a:buNone/>
              <a:defRPr sz="900" b="1">
                <a:solidFill>
                  <a:srgbClr val="536E69"/>
                </a:solidFill>
                <a:latin typeface="Aptos"/>
                <a:ea typeface="Aptos"/>
                <a:cs typeface="Aptos"/>
              </a:defRPr>
            </a:lvl1pPr>
            <a:lvl2pPr algn="r">
              <a:buNone/>
              <a:defRPr sz="900" b="1">
                <a:solidFill>
                  <a:srgbClr val="536E69"/>
                </a:solidFill>
                <a:latin typeface="Aptos"/>
                <a:ea typeface="Aptos"/>
                <a:cs typeface="Aptos"/>
              </a:defRPr>
            </a:lvl2pPr>
            <a:lvl3pPr algn="r">
              <a:buNone/>
              <a:defRPr sz="900" b="1">
                <a:solidFill>
                  <a:srgbClr val="536E69"/>
                </a:solidFill>
                <a:latin typeface="Aptos"/>
                <a:ea typeface="Aptos"/>
                <a:cs typeface="Aptos"/>
              </a:defRPr>
            </a:lvl3pPr>
            <a:lvl4pPr algn="r">
              <a:buNone/>
              <a:defRPr sz="900" b="1">
                <a:solidFill>
                  <a:srgbClr val="536E69"/>
                </a:solidFill>
                <a:latin typeface="Aptos"/>
                <a:ea typeface="Aptos"/>
                <a:cs typeface="Aptos"/>
              </a:defRPr>
            </a:lvl4pPr>
            <a:lvl5pPr algn="r">
              <a:buNone/>
              <a:defRPr sz="900" b="1">
                <a:solidFill>
                  <a:srgbClr val="536E69"/>
                </a:solidFill>
                <a:latin typeface="Aptos"/>
                <a:ea typeface="Aptos"/>
                <a:cs typeface="Aptos"/>
              </a:defRPr>
            </a:lvl5pPr>
            <a:lvl6pPr algn="r">
              <a:buNone/>
              <a:defRPr sz="900" b="1">
                <a:solidFill>
                  <a:srgbClr val="536E69"/>
                </a:solidFill>
                <a:latin typeface="Aptos"/>
                <a:ea typeface="Aptos"/>
                <a:cs typeface="Aptos"/>
              </a:defRPr>
            </a:lvl6pPr>
            <a:lvl7pPr algn="r">
              <a:buNone/>
              <a:defRPr sz="900" b="1">
                <a:solidFill>
                  <a:srgbClr val="536E69"/>
                </a:solidFill>
                <a:latin typeface="Aptos"/>
                <a:ea typeface="Aptos"/>
                <a:cs typeface="Aptos"/>
              </a:defRPr>
            </a:lvl7pPr>
            <a:lvl8pPr algn="r">
              <a:buNone/>
              <a:defRPr sz="900" b="1">
                <a:solidFill>
                  <a:srgbClr val="536E69"/>
                </a:solidFill>
                <a:latin typeface="Aptos"/>
                <a:ea typeface="Aptos"/>
                <a:cs typeface="Aptos"/>
              </a:defRPr>
            </a:lvl8pPr>
            <a:lvl9pPr algn="r">
              <a:buNone/>
              <a:defRPr sz="900" b="1">
                <a:solidFill>
                  <a:srgbClr val="536E6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536E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36E69"/>
                </a:solidFill>
                <a:latin typeface="Aptos"/>
                <a:ea typeface="Aptos"/>
                <a:cs typeface="Aptos"/>
              </a:rPr>
              <a:t>CAPTURED APPLICATION SCREENS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AC538F-39DD-45D5-B9F5-8C422D2B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6E5D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2C5503-AC09-42D3-BBC7-10935B8EF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defPPr>
            <a:lvl1pPr>
              <a:buNone/>
              <a:defRPr sz="2550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 sz="2550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2pPr>
            <a:lvl3pPr>
              <a:buNone/>
              <a:defRPr sz="2550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3pPr>
            <a:lvl4pPr>
              <a:buNone/>
              <a:defRPr sz="2550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4pPr>
            <a:lvl5pPr>
              <a:buNone/>
              <a:defRPr sz="2550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5pPr>
            <a:lvl6pPr>
              <a:buNone/>
              <a:defRPr sz="2550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6pPr>
            <a:lvl7pPr>
              <a:buNone/>
              <a:defRPr sz="2550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 sz="2550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8pPr>
            <a:lvl9pPr>
              <a:buNone/>
              <a:defRPr sz="2550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4F46"/>
                </a:solidFill>
                <a:latin typeface="Aptos"/>
                <a:ea typeface="Aptos"/>
                <a:cs typeface="Aptos"/>
              </a:rPr>
              <a:t>UI demonstration: saved JD refinement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D09AF6-084C-4672-8447-EC2ACB7C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defPPr>
            <a:lvl1pPr>
              <a:buNone/>
              <a:defRPr sz="127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 sz="127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2pPr>
            <a:lvl3pPr>
              <a:buNone/>
              <a:defRPr sz="127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3pPr>
            <a:lvl4pPr>
              <a:buNone/>
              <a:defRPr sz="127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4pPr>
            <a:lvl5pPr>
              <a:buNone/>
              <a:defRPr sz="127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5pPr>
            <a:lvl6pPr>
              <a:buNone/>
              <a:defRPr sz="127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6pPr>
            <a:lvl7pPr>
              <a:buNone/>
              <a:defRPr sz="127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 sz="127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8pPr>
            <a:lvl9pPr>
              <a:buNone/>
              <a:defRPr sz="127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E69"/>
                </a:solidFill>
                <a:latin typeface="Aptos"/>
                <a:ea typeface="Aptos"/>
                <a:cs typeface="Aptos"/>
              </a:rPr>
              <a:t>Actual Groq-demo browser capture after refresh. The saved job remains at revision 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6D1A41-9AAA-46F9-B2C9-D80D4007B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2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defPPr>
            <a:lvl1pPr>
              <a:buNone/>
              <a:defRPr sz="82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 sz="82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2pPr>
            <a:lvl3pPr>
              <a:buNone/>
              <a:defRPr sz="82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3pPr>
            <a:lvl4pPr>
              <a:buNone/>
              <a:defRPr sz="82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4pPr>
            <a:lvl5pPr>
              <a:buNone/>
              <a:defRPr sz="82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5pPr>
            <a:lvl6pPr>
              <a:buNone/>
              <a:defRPr sz="82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6pPr>
            <a:lvl7pPr>
              <a:buNone/>
              <a:defRPr sz="82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 sz="82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8pPr>
            <a:lvl9pPr>
              <a:buNone/>
              <a:defRPr sz="82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82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36E69"/>
                </a:solidFill>
                <a:latin typeface="Aptos"/>
                <a:ea typeface="Aptos"/>
                <a:cs typeface="Aptos"/>
              </a:rPr>
              <a:t>BJIT final project  /  Evidence through 28 October 2026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807A07-B412-44E1-BE56-7DAA41827D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c0e788b91a432b"/>
          <a:stretch xmlns:a="http://schemas.openxmlformats.org/drawingml/2006/main"/>
        </p:blipFill>
        <p:spPr>
          <a:xfrm xmlns:a="http://schemas.openxmlformats.org/drawingml/2006/main">
            <a:off x="1052633" y="2238375"/>
            <a:ext cx="7276859" cy="4095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30FB1D-3FD8-4D0F-A587-946287F3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428875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defPPr>
            <a:lvl1pPr>
              <a:buNone/>
              <a:defRPr sz="172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 sz="172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2pPr>
            <a:lvl3pPr>
              <a:buNone/>
              <a:defRPr sz="172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3pPr>
            <a:lvl4pPr>
              <a:buNone/>
              <a:defRPr sz="172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4pPr>
            <a:lvl5pPr>
              <a:buNone/>
              <a:defRPr sz="172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5pPr>
            <a:lvl6pPr>
              <a:buNone/>
              <a:defRPr sz="172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6pPr>
            <a:lvl7pPr>
              <a:buNone/>
              <a:defRPr sz="172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 sz="172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8pPr>
            <a:lvl9pPr>
              <a:buNone/>
              <a:defRPr sz="172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4F46"/>
                </a:solidFill>
                <a:latin typeface="Aptos"/>
                <a:ea typeface="Aptos"/>
                <a:cs typeface="Aptos"/>
              </a:rPr>
              <a:t>What to explain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CEE26C-ED92-4E43-984F-2544855ED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905125"/>
            <a:ext cx="24955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defPPr>
            <a:lvl1pPr>
              <a:buNone/>
              <a:defRPr sz="157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 sz="157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2pPr>
            <a:lvl3pPr>
              <a:buNone/>
              <a:defRPr sz="157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3pPr>
            <a:lvl4pPr>
              <a:buNone/>
              <a:defRPr sz="157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4pPr>
            <a:lvl5pPr>
              <a:buNone/>
              <a:defRPr sz="157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5pPr>
            <a:lvl6pPr>
              <a:buNone/>
              <a:defRPr sz="157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6pPr>
            <a:lvl7pPr>
              <a:buNone/>
              <a:defRPr sz="157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 sz="157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8pPr>
            <a:lvl9pPr>
              <a:buNone/>
              <a:defRPr sz="157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36E69"/>
                </a:solidFill>
                <a:latin typeface="Aptos"/>
                <a:ea typeface="Aptos"/>
                <a:cs typeface="Aptos"/>
              </a:rPr>
              <a:t>A conversation refines the existing saved job.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7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36E69"/>
                </a:solidFill>
                <a:latin typeface="Aptos"/>
                <a:ea typeface="Aptos"/>
                <a:cs typeface="Aptos"/>
              </a:rPr>
              <a:t>Job Reference remains stable.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7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36E69"/>
                </a:solidFill>
                <a:latin typeface="Aptos"/>
                <a:ea typeface="Aptos"/>
                <a:cs typeface="Aptos"/>
              </a:rPr>
              <a:t>Revision changes trigger renewed criteria review.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7AFE08-EB07-41B4-9CE1-2D8541F1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676900"/>
            <a:ext cx="2524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defPPr>
            <a:lvl1pPr>
              <a:buNone/>
              <a:defRPr sz="1050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 sz="1050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2pPr>
            <a:lvl3pPr>
              <a:buNone/>
              <a:defRPr sz="1050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3pPr>
            <a:lvl4pPr>
              <a:buNone/>
              <a:defRPr sz="1050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4pPr>
            <a:lvl5pPr>
              <a:buNone/>
              <a:defRPr sz="1050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5pPr>
            <a:lvl6pPr>
              <a:buNone/>
              <a:defRPr sz="1050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6pPr>
            <a:lvl7pPr>
              <a:buNone/>
              <a:defRPr sz="1050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 sz="1050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8pPr>
            <a:lvl9pPr>
              <a:buNone/>
              <a:defRPr sz="1050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E69"/>
                </a:solidFill>
                <a:latin typeface="Aptos"/>
                <a:ea typeface="Aptos"/>
                <a:cs typeface="Aptos"/>
              </a:rPr>
              <a:t>Historical capture before the final chat-layout polish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97A19A-3E43-4762-9BE1-2CF4BDF7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34150"/>
            <a:ext cx="981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defPPr>
            <a:lvl1pPr algn="r">
              <a:buNone/>
              <a:defRPr sz="82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1pPr>
            <a:lvl2pPr algn="r">
              <a:buNone/>
              <a:defRPr sz="82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2pPr>
            <a:lvl3pPr algn="r">
              <a:buNone/>
              <a:defRPr sz="82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3pPr>
            <a:lvl4pPr algn="r">
              <a:buNone/>
              <a:defRPr sz="82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4pPr>
            <a:lvl5pPr algn="r">
              <a:buNone/>
              <a:defRPr sz="82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5pPr>
            <a:lvl6pPr algn="r">
              <a:buNone/>
              <a:defRPr sz="82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6pPr>
            <a:lvl7pPr algn="r">
              <a:buNone/>
              <a:defRPr sz="82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7pPr>
            <a:lvl8pPr algn="r">
              <a:buNone/>
              <a:defRPr sz="82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8pPr>
            <a:lvl9pPr algn="r">
              <a:buNone/>
              <a:defRPr sz="82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buNone/>
              <a:defRPr sz="82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36E69"/>
                </a:solidFill>
                <a:latin typeface="Aptos"/>
                <a:ea typeface="Aptos"/>
                <a:cs typeface="Aptos"/>
              </a:rPr>
              <a:t>10 / 18</a:t>
            </a:r>
          </a:p>
        </p:txBody>
      </p:sp>
    </p:spTree>
    <p:extLst>
      <p:ext uri="{BB962C8B-B14F-4D97-AF65-F5344CB8AC3E}">
        <p14:creationId xmlns:p14="http://schemas.microsoft.com/office/powerpoint/2010/main" val="186712611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8F7EC0-628C-41A5-8EAC-0EC4EE3C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defPPr>
            <a:lvl1pPr>
              <a:buNone/>
              <a:defRPr sz="142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 sz="142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2pPr>
            <a:lvl3pPr>
              <a:buNone/>
              <a:defRPr sz="142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3pPr>
            <a:lvl4pPr>
              <a:buNone/>
              <a:defRPr sz="142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4pPr>
            <a:lvl5pPr>
              <a:buNone/>
              <a:defRPr sz="142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5pPr>
            <a:lvl6pPr>
              <a:buNone/>
              <a:defRPr sz="142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6pPr>
            <a:lvl7pPr>
              <a:buNone/>
              <a:defRPr sz="142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 sz="142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8pPr>
            <a:lvl9pPr>
              <a:buNone/>
              <a:defRPr sz="142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42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4F46"/>
                </a:solidFill>
                <a:latin typeface="Aptos"/>
                <a:ea typeface="Aptos"/>
                <a:cs typeface="Aptos"/>
              </a:rPr>
              <a:t>TALENTTRACE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F540A1-0F82-4A1D-B59A-3EA70C7C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81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1">
                <a:solidFill>
                  <a:srgbClr val="536E69"/>
                </a:solidFill>
                <a:latin typeface="Aptos"/>
                <a:ea typeface="Aptos"/>
                <a:cs typeface="Aptos"/>
              </a:defRPr>
            </a:defPPr>
            <a:lvl1pPr algn="r">
              <a:buNone/>
              <a:defRPr sz="900" b="1">
                <a:solidFill>
                  <a:srgbClr val="536E69"/>
                </a:solidFill>
                <a:latin typeface="Aptos"/>
                <a:ea typeface="Aptos"/>
                <a:cs typeface="Aptos"/>
              </a:defRPr>
            </a:lvl1pPr>
            <a:lvl2pPr algn="r">
              <a:buNone/>
              <a:defRPr sz="900" b="1">
                <a:solidFill>
                  <a:srgbClr val="536E69"/>
                </a:solidFill>
                <a:latin typeface="Aptos"/>
                <a:ea typeface="Aptos"/>
                <a:cs typeface="Aptos"/>
              </a:defRPr>
            </a:lvl2pPr>
            <a:lvl3pPr algn="r">
              <a:buNone/>
              <a:defRPr sz="900" b="1">
                <a:solidFill>
                  <a:srgbClr val="536E69"/>
                </a:solidFill>
                <a:latin typeface="Aptos"/>
                <a:ea typeface="Aptos"/>
                <a:cs typeface="Aptos"/>
              </a:defRPr>
            </a:lvl3pPr>
            <a:lvl4pPr algn="r">
              <a:buNone/>
              <a:defRPr sz="900" b="1">
                <a:solidFill>
                  <a:srgbClr val="536E69"/>
                </a:solidFill>
                <a:latin typeface="Aptos"/>
                <a:ea typeface="Aptos"/>
                <a:cs typeface="Aptos"/>
              </a:defRPr>
            </a:lvl4pPr>
            <a:lvl5pPr algn="r">
              <a:buNone/>
              <a:defRPr sz="900" b="1">
                <a:solidFill>
                  <a:srgbClr val="536E69"/>
                </a:solidFill>
                <a:latin typeface="Aptos"/>
                <a:ea typeface="Aptos"/>
                <a:cs typeface="Aptos"/>
              </a:defRPr>
            </a:lvl5pPr>
            <a:lvl6pPr algn="r">
              <a:buNone/>
              <a:defRPr sz="900" b="1">
                <a:solidFill>
                  <a:srgbClr val="536E69"/>
                </a:solidFill>
                <a:latin typeface="Aptos"/>
                <a:ea typeface="Aptos"/>
                <a:cs typeface="Aptos"/>
              </a:defRPr>
            </a:lvl6pPr>
            <a:lvl7pPr algn="r">
              <a:buNone/>
              <a:defRPr sz="900" b="1">
                <a:solidFill>
                  <a:srgbClr val="536E69"/>
                </a:solidFill>
                <a:latin typeface="Aptos"/>
                <a:ea typeface="Aptos"/>
                <a:cs typeface="Aptos"/>
              </a:defRPr>
            </a:lvl7pPr>
            <a:lvl8pPr algn="r">
              <a:buNone/>
              <a:defRPr sz="900" b="1">
                <a:solidFill>
                  <a:srgbClr val="536E69"/>
                </a:solidFill>
                <a:latin typeface="Aptos"/>
                <a:ea typeface="Aptos"/>
                <a:cs typeface="Aptos"/>
              </a:defRPr>
            </a:lvl8pPr>
            <a:lvl9pPr algn="r">
              <a:buNone/>
              <a:defRPr sz="900" b="1">
                <a:solidFill>
                  <a:srgbClr val="536E6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536E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36E69"/>
                </a:solidFill>
                <a:latin typeface="Aptos"/>
                <a:ea typeface="Aptos"/>
                <a:cs typeface="Aptos"/>
              </a:rPr>
              <a:t>CAPTURED APPLICATION SCREENS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34AF31-E7C6-4128-9330-E7316502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6E5D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66F594-C311-48B4-87A6-0502E0576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defPPr>
            <a:lvl1pPr>
              <a:buNone/>
              <a:defRPr sz="2550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 sz="2550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2pPr>
            <a:lvl3pPr>
              <a:buNone/>
              <a:defRPr sz="2550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3pPr>
            <a:lvl4pPr>
              <a:buNone/>
              <a:defRPr sz="2550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4pPr>
            <a:lvl5pPr>
              <a:buNone/>
              <a:defRPr sz="2550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5pPr>
            <a:lvl6pPr>
              <a:buNone/>
              <a:defRPr sz="2550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6pPr>
            <a:lvl7pPr>
              <a:buNone/>
              <a:defRPr sz="2550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 sz="2550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8pPr>
            <a:lvl9pPr>
              <a:buNone/>
              <a:defRPr sz="2550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4F46"/>
                </a:solidFill>
                <a:latin typeface="Aptos"/>
                <a:ea typeface="Aptos"/>
                <a:cs typeface="Aptos"/>
              </a:rPr>
              <a:t>UI demonstration: screening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4671B3-BCC4-42BA-B899-1869C2D63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defPPr>
            <a:lvl1pPr>
              <a:buNone/>
              <a:defRPr sz="127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 sz="127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2pPr>
            <a:lvl3pPr>
              <a:buNone/>
              <a:defRPr sz="127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3pPr>
            <a:lvl4pPr>
              <a:buNone/>
              <a:defRPr sz="127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4pPr>
            <a:lvl5pPr>
              <a:buNone/>
              <a:defRPr sz="127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5pPr>
            <a:lvl6pPr>
              <a:buNone/>
              <a:defRPr sz="127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6pPr>
            <a:lvl7pPr>
              <a:buNone/>
              <a:defRPr sz="127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 sz="127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8pPr>
            <a:lvl9pPr>
              <a:buNone/>
              <a:defRPr sz="127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E69"/>
                </a:solidFill>
                <a:latin typeface="Aptos"/>
                <a:ea typeface="Aptos"/>
                <a:cs typeface="Aptos"/>
              </a:rPr>
              <a:t>Saved synthetic OCR result in the actual recruiter application. This is one example, not full-batch coverage.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0E9886-C0E4-44EE-B5FC-B80A82371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2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defPPr>
            <a:lvl1pPr>
              <a:buNone/>
              <a:defRPr sz="82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 sz="82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2pPr>
            <a:lvl3pPr>
              <a:buNone/>
              <a:defRPr sz="82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3pPr>
            <a:lvl4pPr>
              <a:buNone/>
              <a:defRPr sz="82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4pPr>
            <a:lvl5pPr>
              <a:buNone/>
              <a:defRPr sz="82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5pPr>
            <a:lvl6pPr>
              <a:buNone/>
              <a:defRPr sz="82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6pPr>
            <a:lvl7pPr>
              <a:buNone/>
              <a:defRPr sz="82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 sz="82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8pPr>
            <a:lvl9pPr>
              <a:buNone/>
              <a:defRPr sz="82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82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36E69"/>
                </a:solidFill>
                <a:latin typeface="Aptos"/>
                <a:ea typeface="Aptos"/>
                <a:cs typeface="Aptos"/>
              </a:rPr>
              <a:t>BJIT final project  /  Evidence through 28 October 2026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567709-B0BF-4892-862C-D7CFA7F030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e97e3f46b84495"/>
          <a:stretch xmlns:a="http://schemas.openxmlformats.org/drawingml/2006/main"/>
        </p:blipFill>
        <p:spPr>
          <a:xfrm xmlns:a="http://schemas.openxmlformats.org/drawingml/2006/main">
            <a:off x="1052633" y="2238375"/>
            <a:ext cx="7276859" cy="4095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2CB892-25A9-4508-A4E8-CAC895109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400300"/>
            <a:ext cx="257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defPPr>
            <a:lvl1pPr>
              <a:buNone/>
              <a:defRPr sz="1650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 sz="1650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2pPr>
            <a:lvl3pPr>
              <a:buNone/>
              <a:defRPr sz="1650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3pPr>
            <a:lvl4pPr>
              <a:buNone/>
              <a:defRPr sz="1650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4pPr>
            <a:lvl5pPr>
              <a:buNone/>
              <a:defRPr sz="1650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5pPr>
            <a:lvl6pPr>
              <a:buNone/>
              <a:defRPr sz="1650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6pPr>
            <a:lvl7pPr>
              <a:buNone/>
              <a:defRPr sz="1650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 sz="1650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8pPr>
            <a:lvl9pPr>
              <a:buNone/>
              <a:defRPr sz="1650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4F46"/>
                </a:solidFill>
                <a:latin typeface="Aptos"/>
                <a:ea typeface="Aptos"/>
                <a:cs typeface="Aptos"/>
              </a:rPr>
              <a:t>Evidence before selection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7767DE-9D8A-4751-A7EE-2C68AB33B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162300"/>
            <a:ext cx="2524125" cy="2543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defPPr>
            <a:lvl1pPr>
              <a:buNone/>
              <a:defRPr sz="1500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 sz="1500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2pPr>
            <a:lvl3pPr>
              <a:buNone/>
              <a:defRPr sz="1500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3pPr>
            <a:lvl4pPr>
              <a:buNone/>
              <a:defRPr sz="1500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4pPr>
            <a:lvl5pPr>
              <a:buNone/>
              <a:defRPr sz="1500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5pPr>
            <a:lvl6pPr>
              <a:buNone/>
              <a:defRPr sz="1500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6pPr>
            <a:lvl7pPr>
              <a:buNone/>
              <a:defRPr sz="1500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 sz="1500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8pPr>
            <a:lvl9pPr>
              <a:buNone/>
              <a:defRPr sz="1500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36E69"/>
                </a:solidFill>
                <a:latin typeface="Aptos"/>
                <a:ea typeface="Aptos"/>
                <a:cs typeface="Aptos"/>
              </a:rPr>
              <a:t>Saved criteria revision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00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36E69"/>
                </a:solidFill>
                <a:latin typeface="Aptos"/>
                <a:ea typeface="Aptos"/>
                <a:cs typeface="Aptos"/>
              </a:rPr>
              <a:t>Requirement coverage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00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36E69"/>
                </a:solidFill>
                <a:latin typeface="Aptos"/>
                <a:ea typeface="Aptos"/>
                <a:cs typeface="Aptos"/>
              </a:rPr>
              <a:t>Source page and OCR provenance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00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36E69"/>
                </a:solidFill>
                <a:latin typeface="Aptos"/>
                <a:ea typeface="Aptos"/>
                <a:cs typeface="Aptos"/>
              </a:rPr>
              <a:t>Recruiter review remains required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227EA3-51EE-4FB9-8F70-3FFD1D42F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791200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defPPr>
            <a:lvl1pPr>
              <a:buNone/>
              <a:defRPr sz="112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 sz="112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2pPr>
            <a:lvl3pPr>
              <a:buNone/>
              <a:defRPr sz="112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3pPr>
            <a:lvl4pPr>
              <a:buNone/>
              <a:defRPr sz="112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4pPr>
            <a:lvl5pPr>
              <a:buNone/>
              <a:defRPr sz="112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5pPr>
            <a:lvl6pPr>
              <a:buNone/>
              <a:defRPr sz="112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6pPr>
            <a:lvl7pPr>
              <a:buNone/>
              <a:defRPr sz="112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 sz="112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8pPr>
            <a:lvl9pPr>
              <a:buNone/>
              <a:defRPr sz="112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4F46"/>
                </a:solidFill>
                <a:latin typeface="Aptos"/>
                <a:ea typeface="Aptos"/>
                <a:cs typeface="Aptos"/>
              </a:rPr>
              <a:t>An unscored result is not a zero score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192516-5CA9-4CCF-8D30-CDA34A42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34150"/>
            <a:ext cx="981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defPPr>
            <a:lvl1pPr algn="r">
              <a:buNone/>
              <a:defRPr sz="82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1pPr>
            <a:lvl2pPr algn="r">
              <a:buNone/>
              <a:defRPr sz="82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2pPr>
            <a:lvl3pPr algn="r">
              <a:buNone/>
              <a:defRPr sz="82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3pPr>
            <a:lvl4pPr algn="r">
              <a:buNone/>
              <a:defRPr sz="82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4pPr>
            <a:lvl5pPr algn="r">
              <a:buNone/>
              <a:defRPr sz="82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5pPr>
            <a:lvl6pPr algn="r">
              <a:buNone/>
              <a:defRPr sz="82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6pPr>
            <a:lvl7pPr algn="r">
              <a:buNone/>
              <a:defRPr sz="82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7pPr>
            <a:lvl8pPr algn="r">
              <a:buNone/>
              <a:defRPr sz="82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8pPr>
            <a:lvl9pPr algn="r">
              <a:buNone/>
              <a:defRPr sz="82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buNone/>
              <a:defRPr sz="82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36E69"/>
                </a:solidFill>
                <a:latin typeface="Aptos"/>
                <a:ea typeface="Aptos"/>
                <a:cs typeface="Aptos"/>
              </a:rPr>
              <a:t>11 / 18</a:t>
            </a:r>
          </a:p>
        </p:txBody>
      </p:sp>
    </p:spTree>
    <p:extLst>
      <p:ext uri="{BB962C8B-B14F-4D97-AF65-F5344CB8AC3E}">
        <p14:creationId xmlns:p14="http://schemas.microsoft.com/office/powerpoint/2010/main" val="195577689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53833E-E1DC-4F15-AC45-C52FFA7A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defPPr>
            <a:lvl1pPr>
              <a:buNone/>
              <a:defRPr sz="142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 sz="142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2pPr>
            <a:lvl3pPr>
              <a:buNone/>
              <a:defRPr sz="142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3pPr>
            <a:lvl4pPr>
              <a:buNone/>
              <a:defRPr sz="142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4pPr>
            <a:lvl5pPr>
              <a:buNone/>
              <a:defRPr sz="142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5pPr>
            <a:lvl6pPr>
              <a:buNone/>
              <a:defRPr sz="142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6pPr>
            <a:lvl7pPr>
              <a:buNone/>
              <a:defRPr sz="142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 sz="142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8pPr>
            <a:lvl9pPr>
              <a:buNone/>
              <a:defRPr sz="142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42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4F46"/>
                </a:solidFill>
                <a:latin typeface="Aptos"/>
                <a:ea typeface="Aptos"/>
                <a:cs typeface="Aptos"/>
              </a:rPr>
              <a:t>TALENTTRACE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7FC1CE-8491-4C1A-A83D-B56A305D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81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1">
                <a:solidFill>
                  <a:srgbClr val="536E69"/>
                </a:solidFill>
                <a:latin typeface="Aptos"/>
                <a:ea typeface="Aptos"/>
                <a:cs typeface="Aptos"/>
              </a:defRPr>
            </a:defPPr>
            <a:lvl1pPr algn="r">
              <a:buNone/>
              <a:defRPr sz="900" b="1">
                <a:solidFill>
                  <a:srgbClr val="536E69"/>
                </a:solidFill>
                <a:latin typeface="Aptos"/>
                <a:ea typeface="Aptos"/>
                <a:cs typeface="Aptos"/>
              </a:defRPr>
            </a:lvl1pPr>
            <a:lvl2pPr algn="r">
              <a:buNone/>
              <a:defRPr sz="900" b="1">
                <a:solidFill>
                  <a:srgbClr val="536E69"/>
                </a:solidFill>
                <a:latin typeface="Aptos"/>
                <a:ea typeface="Aptos"/>
                <a:cs typeface="Aptos"/>
              </a:defRPr>
            </a:lvl2pPr>
            <a:lvl3pPr algn="r">
              <a:buNone/>
              <a:defRPr sz="900" b="1">
                <a:solidFill>
                  <a:srgbClr val="536E69"/>
                </a:solidFill>
                <a:latin typeface="Aptos"/>
                <a:ea typeface="Aptos"/>
                <a:cs typeface="Aptos"/>
              </a:defRPr>
            </a:lvl3pPr>
            <a:lvl4pPr algn="r">
              <a:buNone/>
              <a:defRPr sz="900" b="1">
                <a:solidFill>
                  <a:srgbClr val="536E69"/>
                </a:solidFill>
                <a:latin typeface="Aptos"/>
                <a:ea typeface="Aptos"/>
                <a:cs typeface="Aptos"/>
              </a:defRPr>
            </a:lvl4pPr>
            <a:lvl5pPr algn="r">
              <a:buNone/>
              <a:defRPr sz="900" b="1">
                <a:solidFill>
                  <a:srgbClr val="536E69"/>
                </a:solidFill>
                <a:latin typeface="Aptos"/>
                <a:ea typeface="Aptos"/>
                <a:cs typeface="Aptos"/>
              </a:defRPr>
            </a:lvl5pPr>
            <a:lvl6pPr algn="r">
              <a:buNone/>
              <a:defRPr sz="900" b="1">
                <a:solidFill>
                  <a:srgbClr val="536E69"/>
                </a:solidFill>
                <a:latin typeface="Aptos"/>
                <a:ea typeface="Aptos"/>
                <a:cs typeface="Aptos"/>
              </a:defRPr>
            </a:lvl6pPr>
            <a:lvl7pPr algn="r">
              <a:buNone/>
              <a:defRPr sz="900" b="1">
                <a:solidFill>
                  <a:srgbClr val="536E69"/>
                </a:solidFill>
                <a:latin typeface="Aptos"/>
                <a:ea typeface="Aptos"/>
                <a:cs typeface="Aptos"/>
              </a:defRPr>
            </a:lvl7pPr>
            <a:lvl8pPr algn="r">
              <a:buNone/>
              <a:defRPr sz="900" b="1">
                <a:solidFill>
                  <a:srgbClr val="536E69"/>
                </a:solidFill>
                <a:latin typeface="Aptos"/>
                <a:ea typeface="Aptos"/>
                <a:cs typeface="Aptos"/>
              </a:defRPr>
            </a:lvl8pPr>
            <a:lvl9pPr algn="r">
              <a:buNone/>
              <a:defRPr sz="900" b="1">
                <a:solidFill>
                  <a:srgbClr val="536E6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536E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36E69"/>
                </a:solidFill>
                <a:latin typeface="Aptos"/>
                <a:ea typeface="Aptos"/>
                <a:cs typeface="Aptos"/>
              </a:rPr>
              <a:t>CAPTURED APPLICATION SCREENS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D51726-59FF-4996-9260-94FF31BD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6E5D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8E0908-4579-4C8B-92C5-BCC6ED400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defPPr>
            <a:lvl1pPr>
              <a:buNone/>
              <a:defRPr sz="2550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 sz="2550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2pPr>
            <a:lvl3pPr>
              <a:buNone/>
              <a:defRPr sz="2550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3pPr>
            <a:lvl4pPr>
              <a:buNone/>
              <a:defRPr sz="2550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4pPr>
            <a:lvl5pPr>
              <a:buNone/>
              <a:defRPr sz="2550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5pPr>
            <a:lvl6pPr>
              <a:buNone/>
              <a:defRPr sz="2550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6pPr>
            <a:lvl7pPr>
              <a:buNone/>
              <a:defRPr sz="2550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 sz="2550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8pPr>
            <a:lvl9pPr>
              <a:buNone/>
              <a:defRPr sz="2550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4F46"/>
                </a:solidFill>
                <a:latin typeface="Aptos"/>
                <a:ea typeface="Aptos"/>
                <a:cs typeface="Aptos"/>
              </a:rPr>
              <a:t>UI demonstration: booking and assessment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1E9D6E-A2A4-4016-9996-4D06969D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defPPr>
            <a:lvl1pPr>
              <a:buNone/>
              <a:defRPr sz="127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 sz="127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2pPr>
            <a:lvl3pPr>
              <a:buNone/>
              <a:defRPr sz="127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3pPr>
            <a:lvl4pPr>
              <a:buNone/>
              <a:defRPr sz="127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4pPr>
            <a:lvl5pPr>
              <a:buNone/>
              <a:defRPr sz="127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5pPr>
            <a:lvl6pPr>
              <a:buNone/>
              <a:defRPr sz="127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6pPr>
            <a:lvl7pPr>
              <a:buNone/>
              <a:defRPr sz="127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 sz="127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8pPr>
            <a:lvl9pPr>
              <a:buNone/>
              <a:defRPr sz="127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E69"/>
                </a:solidFill>
                <a:latin typeface="Aptos"/>
                <a:ea typeface="Aptos"/>
                <a:cs typeface="Aptos"/>
              </a:rPr>
              <a:t>Actual synthetic application captures. Booking review and consolidated evidence are separate decisions.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438BC4-AE08-4F7C-83A4-65B3E03A6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2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defPPr>
            <a:lvl1pPr>
              <a:buNone/>
              <a:defRPr sz="82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 sz="82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2pPr>
            <a:lvl3pPr>
              <a:buNone/>
              <a:defRPr sz="82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3pPr>
            <a:lvl4pPr>
              <a:buNone/>
              <a:defRPr sz="82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4pPr>
            <a:lvl5pPr>
              <a:buNone/>
              <a:defRPr sz="82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5pPr>
            <a:lvl6pPr>
              <a:buNone/>
              <a:defRPr sz="82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6pPr>
            <a:lvl7pPr>
              <a:buNone/>
              <a:defRPr sz="82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 sz="82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8pPr>
            <a:lvl9pPr>
              <a:buNone/>
              <a:defRPr sz="82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82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36E69"/>
                </a:solidFill>
                <a:latin typeface="Aptos"/>
                <a:ea typeface="Aptos"/>
                <a:cs typeface="Aptos"/>
              </a:rPr>
              <a:t>BJIT final project  /  Evidence through 28 October 2026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19F8B3-5EEA-4328-9A0D-43C46C11A5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c58760614b49d1"/>
          <a:stretch xmlns:a="http://schemas.openxmlformats.org/drawingml/2006/main"/>
        </p:blipFill>
        <p:spPr>
          <a:xfrm xmlns:a="http://schemas.openxmlformats.org/drawingml/2006/main">
            <a:off x="623983" y="2362200"/>
            <a:ext cx="2847784" cy="3962400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DEE97C-9BB0-4A8E-A4B2-8C8DAB9C3C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fa809ab2ef4949"/>
          <a:stretch xmlns:a="http://schemas.openxmlformats.org/drawingml/2006/main"/>
        </p:blipFill>
        <p:spPr>
          <a:xfrm xmlns:a="http://schemas.openxmlformats.org/drawingml/2006/main">
            <a:off x="4148233" y="2362200"/>
            <a:ext cx="2847784" cy="39624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1AA235-CB52-4A46-9027-D1767652F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05025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defPPr>
            <a:lvl1pPr>
              <a:buNone/>
              <a:defRPr sz="127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 sz="127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2pPr>
            <a:lvl3pPr>
              <a:buNone/>
              <a:defRPr sz="127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3pPr>
            <a:lvl4pPr>
              <a:buNone/>
              <a:defRPr sz="127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4pPr>
            <a:lvl5pPr>
              <a:buNone/>
              <a:defRPr sz="127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5pPr>
            <a:lvl6pPr>
              <a:buNone/>
              <a:defRPr sz="127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6pPr>
            <a:lvl7pPr>
              <a:buNone/>
              <a:defRPr sz="127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 sz="127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8pPr>
            <a:lvl9pPr>
              <a:buNone/>
              <a:defRPr sz="127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4F46"/>
                </a:solidFill>
                <a:latin typeface="Aptos"/>
                <a:ea typeface="Aptos"/>
                <a:cs typeface="Aptos"/>
              </a:rPr>
              <a:t>Review before booking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C47550-C14E-41AC-9D47-7D1AAEF0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05025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defPPr>
            <a:lvl1pPr>
              <a:buNone/>
              <a:defRPr sz="127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 sz="127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2pPr>
            <a:lvl3pPr>
              <a:buNone/>
              <a:defRPr sz="127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3pPr>
            <a:lvl4pPr>
              <a:buNone/>
              <a:defRPr sz="127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4pPr>
            <a:lvl5pPr>
              <a:buNone/>
              <a:defRPr sz="127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5pPr>
            <a:lvl6pPr>
              <a:buNone/>
              <a:defRPr sz="127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6pPr>
            <a:lvl7pPr>
              <a:buNone/>
              <a:defRPr sz="127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 sz="127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8pPr>
            <a:lvl9pPr>
              <a:buNone/>
              <a:defRPr sz="127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4F46"/>
                </a:solidFill>
                <a:latin typeface="Aptos"/>
                <a:ea typeface="Aptos"/>
                <a:cs typeface="Aptos"/>
              </a:rPr>
              <a:t>Assessment and print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B7644C-ED44-4649-9A67-E406BCEA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765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defPPr>
            <a:lvl1pPr>
              <a:buNone/>
              <a:defRPr sz="172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 sz="172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2pPr>
            <a:lvl3pPr>
              <a:buNone/>
              <a:defRPr sz="172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3pPr>
            <a:lvl4pPr>
              <a:buNone/>
              <a:defRPr sz="172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4pPr>
            <a:lvl5pPr>
              <a:buNone/>
              <a:defRPr sz="172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5pPr>
            <a:lvl6pPr>
              <a:buNone/>
              <a:defRPr sz="172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6pPr>
            <a:lvl7pPr>
              <a:buNone/>
              <a:defRPr sz="172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 sz="172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8pPr>
            <a:lvl9pPr>
              <a:buNone/>
              <a:defRPr sz="172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104F4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4F46"/>
                </a:solidFill>
                <a:latin typeface="Aptos"/>
                <a:ea typeface="Aptos"/>
                <a:cs typeface="Aptos"/>
              </a:rPr>
              <a:t>What these screens show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4CBF27-F302-4202-B672-3EC7A686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52750"/>
            <a:ext cx="3743325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defPPr>
            <a:lvl1pPr>
              <a:buNone/>
              <a:defRPr sz="1500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 sz="1500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2pPr>
            <a:lvl3pPr>
              <a:buNone/>
              <a:defRPr sz="1500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3pPr>
            <a:lvl4pPr>
              <a:buNone/>
              <a:defRPr sz="1500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4pPr>
            <a:lvl5pPr>
              <a:buNone/>
              <a:defRPr sz="1500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5pPr>
            <a:lvl6pPr>
              <a:buNone/>
              <a:defRPr sz="1500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6pPr>
            <a:lvl7pPr>
              <a:buNone/>
              <a:defRPr sz="1500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 sz="1500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8pPr>
            <a:lvl9pPr>
              <a:buNone/>
              <a:defRPr sz="1500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36E69"/>
                </a:solidFill>
                <a:latin typeface="Aptos"/>
                <a:ea typeface="Aptos"/>
                <a:cs typeface="Aptos"/>
              </a:rPr>
              <a:t>Review date, start/end, timezone and duration.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00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36E69"/>
                </a:solidFill>
                <a:latin typeface="Aptos"/>
                <a:ea typeface="Aptos"/>
                <a:cs typeface="Aptos"/>
              </a:rPr>
              <a:t>Booking sends no automatic email.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00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36E69"/>
                </a:solidFill>
                <a:latin typeface="Aptos"/>
                <a:ea typeface="Aptos"/>
                <a:cs typeface="Aptos"/>
              </a:rPr>
              <a:t>The report separates CV evidence from available interview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00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36E69"/>
                </a:solidFill>
                <a:latin typeface="Aptos"/>
                <a:ea typeface="Aptos"/>
                <a:cs typeface="Aptos"/>
              </a:rPr>
              <a:t>No invented combined hiring score.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8FE739-1FCD-4753-9BF8-D2C258EE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810250"/>
            <a:ext cx="38004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defPPr>
            <a:lvl1pPr>
              <a:buNone/>
              <a:defRPr sz="1050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 sz="1050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2pPr>
            <a:lvl3pPr>
              <a:buNone/>
              <a:defRPr sz="1050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3pPr>
            <a:lvl4pPr>
              <a:buNone/>
              <a:defRPr sz="1050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4pPr>
            <a:lvl5pPr>
              <a:buNone/>
              <a:defRPr sz="1050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5pPr>
            <a:lvl6pPr>
              <a:buNone/>
              <a:defRPr sz="1050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6pPr>
            <a:lvl7pPr>
              <a:buNone/>
              <a:defRPr sz="1050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 sz="1050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8pPr>
            <a:lvl9pPr>
              <a:buNone/>
              <a:defRPr sz="1050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E69"/>
                </a:solidFill>
                <a:latin typeface="Aptos"/>
                <a:ea typeface="Aptos"/>
                <a:cs typeface="Aptos"/>
              </a:rPr>
              <a:t>Historical synthetic fixtures. No new booking or email.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582B4D-0258-43B4-8CF4-2B40E5A1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34150"/>
            <a:ext cx="981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defPPr>
            <a:lvl1pPr algn="r">
              <a:buNone/>
              <a:defRPr sz="82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1pPr>
            <a:lvl2pPr algn="r">
              <a:buNone/>
              <a:defRPr sz="82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2pPr>
            <a:lvl3pPr algn="r">
              <a:buNone/>
              <a:defRPr sz="82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3pPr>
            <a:lvl4pPr algn="r">
              <a:buNone/>
              <a:defRPr sz="82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4pPr>
            <a:lvl5pPr algn="r">
              <a:buNone/>
              <a:defRPr sz="82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5pPr>
            <a:lvl6pPr algn="r">
              <a:buNone/>
              <a:defRPr sz="82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6pPr>
            <a:lvl7pPr algn="r">
              <a:buNone/>
              <a:defRPr sz="82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7pPr>
            <a:lvl8pPr algn="r">
              <a:buNone/>
              <a:defRPr sz="82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8pPr>
            <a:lvl9pPr algn="r">
              <a:buNone/>
              <a:defRPr sz="82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buNone/>
              <a:defRPr sz="825" b="0">
                <a:solidFill>
                  <a:srgbClr val="536E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36E69"/>
                </a:solidFill>
                <a:latin typeface="Aptos"/>
                <a:ea typeface="Aptos"/>
                <a:cs typeface="Aptos"/>
              </a:rPr>
              <a:t>12 / 18</a:t>
            </a:r>
          </a:p>
        </p:txBody>
      </p:sp>
    </p:spTree>
    <p:extLst>
      <p:ext uri="{BB962C8B-B14F-4D97-AF65-F5344CB8AC3E}">
        <p14:creationId xmlns:p14="http://schemas.microsoft.com/office/powerpoint/2010/main" val="37465730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12644DB-581B-405E-B432-062F4BDC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F7FAF8"/>
          </a:solidFill>
          <a:ln xmlns:a="http://schemas.openxmlformats.org/drawingml/2006/main" w="12700">
            <a:solidFill>
              <a:srgbClr val="F7FAF8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A359401-4E9C-4440-B1E8-BA5CAA89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2296" cy="6858000"/>
          </a:xfrm>
          <a:prstGeom xmlns:a="http://schemas.openxmlformats.org/drawingml/2006/main" prst="roundRect">
            <a:avLst>
              <a:gd name="adj" fmla="val 177778"/>
            </a:avLst>
          </a:prstGeom>
          <a:solidFill xmlns:a="http://schemas.openxmlformats.org/drawingml/2006/main">
            <a:srgbClr val="104D43"/>
          </a:solidFill>
          <a:ln xmlns:a="http://schemas.openxmlformats.org/drawingml/2006/main" w="12700">
            <a:solidFill>
              <a:srgbClr val="104D43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0A3417C-5848-4A7F-B7B8-0C30BCB2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393192" cy="393192"/>
          </a:xfrm>
          <a:prstGeom xmlns:a="http://schemas.openxmlformats.org/drawingml/2006/main" prst="roundRect">
            <a:avLst>
              <a:gd name="adj" fmla="val 23256"/>
            </a:avLst>
          </a:prstGeom>
          <a:solidFill xmlns:a="http://schemas.openxmlformats.org/drawingml/2006/main">
            <a:srgbClr val="197C6A"/>
          </a:solidFill>
          <a:ln xmlns:a="http://schemas.openxmlformats.org/drawingml/2006/main" w="12700">
            <a:solidFill>
              <a:srgbClr val="197C6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5AEB615-0AD0-4357-BB99-CC90F430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4904"/>
            <a:ext cx="39319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</a:t>
            </a:r>
            <a:endParaRPr sz="2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8141F9D-A457-4F55-9EA3-C4CDD493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" y="374904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 spc="90">
                <a:solidFill>
                  <a:srgbClr val="104D43"/>
                </a:solidFill>
                <a:latin typeface="Aptos"/>
                <a:ea typeface="Aptos"/>
                <a:cs typeface="Aptos"/>
              </a:rPr>
              <a:t>TALENTTRACE AI</a:t>
            </a:r>
            <a:endParaRPr sz="12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05CE02F-F90A-45B2-9531-FFF300AB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402336"/>
            <a:ext cx="23774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30" b="1" spc="100">
                <a:solidFill>
                  <a:srgbClr val="5A706B"/>
                </a:solidFill>
                <a:latin typeface="Aptos"/>
                <a:ea typeface="Aptos"/>
                <a:cs typeface="Aptos"/>
              </a:rPr>
              <a:t>ENGINEERING LESSONS</a:t>
            </a:r>
            <a:endParaRPr sz="103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24A4EC6-6A63-42C6-92D2-E000A3AFC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77824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CE7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956FF1B-0DAA-4D19-BE8B-18D3D1B6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1060704"/>
            <a:ext cx="1106424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50" b="1">
                <a:solidFill>
                  <a:srgbClr val="104D43"/>
                </a:solidFill>
                <a:latin typeface="Aptos"/>
                <a:ea typeface="Aptos"/>
                <a:cs typeface="Aptos"/>
              </a:rPr>
              <a:t>Challenges and solutions</a:t>
            </a:r>
            <a:endParaRPr sz="27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97CA8E6-2D1E-4FCB-96EE-CE4A7D11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18488"/>
            <a:ext cx="10881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5A706B"/>
                </a:solidFill>
                <a:latin typeface="Aptos"/>
                <a:ea typeface="Aptos"/>
                <a:cs typeface="Aptos"/>
              </a:rPr>
              <a:t>Recorded engineering problems, targeted fixes and limitations.</a:t>
            </a:r>
            <a:endParaRPr sz="14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6476CCB-36ED-4298-9FA4-CF66202A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446520"/>
            <a:ext cx="111282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DCE7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D90ACE7-802C-4B2D-AE3C-4736D21D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6519672"/>
            <a:ext cx="7863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900">
                <a:solidFill>
                  <a:srgbClr val="8C9A97"/>
                </a:solidFill>
                <a:latin typeface="Aptos"/>
                <a:ea typeface="Aptos"/>
                <a:cs typeface="Aptos"/>
              </a:rPr>
              <a:t>AI Trainee Programme  /  BJIT final project  /  October 2026</a:t>
            </a:r>
            <a:endParaRPr sz="90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89B4428-ACA3-4821-BDF2-FB4669525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4472" y="6519672"/>
            <a:ext cx="9601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30">
                <a:solidFill>
                  <a:srgbClr val="8C9A97"/>
                </a:solidFill>
                <a:latin typeface="Aptos"/>
                <a:ea typeface="Aptos"/>
                <a:cs typeface="Aptos"/>
              </a:rPr>
              <a:t>13 / 18</a:t>
            </a:r>
            <a:endParaRPr sz="93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55C9805-F6EA-4AFA-893E-2E5C6BB2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011680"/>
            <a:ext cx="10945368" cy="6858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CF6F1"/>
          </a:solidFill>
          <a:ln xmlns:a="http://schemas.openxmlformats.org/drawingml/2006/main" w="12700">
            <a:solidFill>
              <a:srgbClr val="ECF6F1">
                <a:alpha val="0"/>
              </a:srgbClr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5021987-CCE7-4EFB-B9F1-4137E8BF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2130552"/>
            <a:ext cx="1965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40" b="1">
                <a:solidFill>
                  <a:srgbClr val="193D38"/>
                </a:solidFill>
                <a:latin typeface="Aptos"/>
                <a:ea typeface="Aptos"/>
                <a:cs typeface="Aptos"/>
              </a:rPr>
              <a:t>JD refinement ambiguity</a:t>
            </a:r>
            <a:endParaRPr sz="124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EAEDCF6-64BA-4520-9531-097C3166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6352" y="2148840"/>
            <a:ext cx="27432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40">
                <a:solidFill>
                  <a:srgbClr val="5A706B"/>
                </a:solidFill>
                <a:latin typeface="Aptos"/>
                <a:ea typeface="Aptos"/>
                <a:cs typeface="Aptos"/>
              </a:rPr>
              <a:t>Grounding/negation rule could reject valid changes.</a:t>
            </a:r>
            <a:endParaRPr sz="114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FD4517C-B4FC-4663-A345-C5B9C8739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992" y="2148840"/>
            <a:ext cx="315468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40">
                <a:solidFill>
                  <a:srgbClr val="193D38"/>
                </a:solidFill>
                <a:latin typeface="Aptos"/>
                <a:ea typeface="Aptos"/>
                <a:cs typeface="Aptos"/>
              </a:rPr>
              <a:t>Targeted validation fix; real Groq revision 1→2.</a:t>
            </a:r>
            <a:endParaRPr sz="114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39EE72E0-DAE2-4BD7-B734-867BD79F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2203704"/>
            <a:ext cx="2267712" cy="274320"/>
          </a:xfrm>
          <a:prstGeom xmlns:a="http://schemas.openxmlformats.org/drawingml/2006/main" prst="roundRect">
            <a:avLst>
              <a:gd name="adj" fmla="val 60000"/>
            </a:avLst>
          </a:prstGeom>
          <a:solidFill xmlns:a="http://schemas.openxmlformats.org/drawingml/2006/main">
            <a:srgbClr val="DCF0E7"/>
          </a:solidFill>
          <a:ln xmlns:a="http://schemas.openxmlformats.org/drawingml/2006/main" w="12700">
            <a:solidFill>
              <a:srgbClr val="DCF0E7">
                <a:alpha val="0"/>
              </a:srgbClr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51A2E5F-57FF-4B71-8CBE-9B77C353F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2244852"/>
            <a:ext cx="2103120" cy="1920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30" b="1">
                <a:solidFill>
                  <a:srgbClr val="104D43"/>
                </a:solidFill>
                <a:latin typeface="Aptos"/>
                <a:ea typeface="Aptos"/>
                <a:cs typeface="Aptos"/>
              </a:rPr>
              <a:t>Resolved in synthetic JD test</a:t>
            </a:r>
            <a:endParaRPr sz="93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FA3C5D38-E5EA-40F5-AD4F-4C8F2063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825496"/>
            <a:ext cx="10945368" cy="6858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2D8EE5D5-6369-4878-B356-EFBFC1C1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2944368"/>
            <a:ext cx="1965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40" b="1">
                <a:solidFill>
                  <a:srgbClr val="193D38"/>
                </a:solidFill>
                <a:latin typeface="Aptos"/>
                <a:ea typeface="Aptos"/>
                <a:cs typeface="Aptos"/>
              </a:rPr>
              <a:t>Scanned / mixed PDFs</a:t>
            </a:r>
            <a:endParaRPr sz="124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EE1D821-0B4C-44F5-9F9B-4C76E4CB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6352" y="2962656"/>
            <a:ext cx="27432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40">
                <a:solidFill>
                  <a:srgbClr val="5A706B"/>
                </a:solidFill>
                <a:latin typeface="Aptos"/>
                <a:ea typeface="Aptos"/>
                <a:cs typeface="Aptos"/>
              </a:rPr>
              <a:t>Image-only pages are not ordinary PDF text.</a:t>
            </a:r>
            <a:endParaRPr sz="114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748244DE-3A15-4C27-85F9-40A727228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992" y="2962656"/>
            <a:ext cx="315468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40">
                <a:solidFill>
                  <a:srgbClr val="193D38"/>
                </a:solidFill>
                <a:latin typeface="Aptos"/>
                <a:ea typeface="Aptos"/>
                <a:cs typeface="Aptos"/>
              </a:rPr>
              <a:t>Tesseract OCR integrated into evidence-backed screening.</a:t>
            </a:r>
            <a:endParaRPr sz="114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C8D35D88-4152-427F-9DAB-FBE224AE7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3017520"/>
            <a:ext cx="2267712" cy="274320"/>
          </a:xfrm>
          <a:prstGeom xmlns:a="http://schemas.openxmlformats.org/drawingml/2006/main" prst="roundRect">
            <a:avLst>
              <a:gd name="adj" fmla="val 60000"/>
            </a:avLst>
          </a:prstGeom>
          <a:solidFill xmlns:a="http://schemas.openxmlformats.org/drawingml/2006/main">
            <a:srgbClr val="DCF0E7"/>
          </a:solidFill>
          <a:ln xmlns:a="http://schemas.openxmlformats.org/drawingml/2006/main" w="12700">
            <a:solidFill>
              <a:srgbClr val="DCF0E7">
                <a:alpha val="0"/>
              </a:srgbClr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456E58A1-81B3-4226-9684-D2FC60FF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3058668"/>
            <a:ext cx="2103120" cy="1920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30" b="1">
                <a:solidFill>
                  <a:srgbClr val="104D43"/>
                </a:solidFill>
                <a:latin typeface="Aptos"/>
                <a:ea typeface="Aptos"/>
                <a:cs typeface="Aptos"/>
              </a:rPr>
              <a:t>Verified on synthetic PDFs</a:t>
            </a:r>
            <a:endParaRPr sz="93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4F3F9EF2-EB74-4716-85F5-E4DA9B85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639312"/>
            <a:ext cx="10945368" cy="6858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CF6F1"/>
          </a:solidFill>
          <a:ln xmlns:a="http://schemas.openxmlformats.org/drawingml/2006/main" w="12700">
            <a:solidFill>
              <a:srgbClr val="ECF6F1">
                <a:alpha val="0"/>
              </a:srgbClr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E5F456E0-F798-40BA-AD07-655AE936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3758184"/>
            <a:ext cx="1965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40" b="1">
                <a:solidFill>
                  <a:srgbClr val="193D38"/>
                </a:solidFill>
                <a:latin typeface="Aptos"/>
                <a:ea typeface="Aptos"/>
                <a:cs typeface="Aptos"/>
              </a:rPr>
              <a:t>AI provider configuration</a:t>
            </a:r>
            <a:endParaRPr sz="124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86F9480-5B88-4B3D-ABAE-1F532440B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6352" y="3776472"/>
            <a:ext cx="27432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40">
                <a:solidFill>
                  <a:srgbClr val="5A706B"/>
                </a:solidFill>
                <a:latin typeface="Aptos"/>
                <a:ea typeface="Aptos"/>
                <a:cs typeface="Aptos"/>
              </a:rPr>
              <a:t>Provider-disabled demo hid implemented Groq paths.</a:t>
            </a:r>
            <a:endParaRPr sz="114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8115D2CA-89B5-4372-91AF-E0924C60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992" y="3776472"/>
            <a:ext cx="315468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40">
                <a:solidFill>
                  <a:srgbClr val="193D38"/>
                </a:solidFill>
                <a:latin typeface="Aptos"/>
                <a:ea typeface="Aptos"/>
                <a:cs typeface="Aptos"/>
              </a:rPr>
              <a:t>Separate enabled runtime; explicit cloud-data consent.</a:t>
            </a:r>
            <a:endParaRPr sz="114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D0DA19F9-8743-4BCC-ACA9-AC806349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3831336"/>
            <a:ext cx="2267712" cy="274320"/>
          </a:xfrm>
          <a:prstGeom xmlns:a="http://schemas.openxmlformats.org/drawingml/2006/main" prst="roundRect">
            <a:avLst>
              <a:gd name="adj" fmla="val 60000"/>
            </a:avLst>
          </a:prstGeom>
          <a:solidFill xmlns:a="http://schemas.openxmlformats.org/drawingml/2006/main">
            <a:srgbClr val="DCF0E7"/>
          </a:solidFill>
          <a:ln xmlns:a="http://schemas.openxmlformats.org/drawingml/2006/main" w="12700">
            <a:solidFill>
              <a:srgbClr val="DCF0E7">
                <a:alpha val="0"/>
              </a:srgbClr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259016EA-8611-436C-8786-2F81F1B2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3872484"/>
            <a:ext cx="2103120" cy="1920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30" b="1">
                <a:solidFill>
                  <a:srgbClr val="104D43"/>
                </a:solidFill>
                <a:latin typeface="Aptos"/>
                <a:ea typeface="Aptos"/>
                <a:cs typeface="Aptos"/>
              </a:rPr>
              <a:t>Groq synthetic flow verified</a:t>
            </a:r>
            <a:endParaRPr sz="93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6AAE65D0-E931-4685-9972-B613C442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4453128"/>
            <a:ext cx="10945368" cy="6858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307B9B29-EE10-4BAD-8C2E-E22BD758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4572000"/>
            <a:ext cx="1965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40" b="1">
                <a:solidFill>
                  <a:srgbClr val="193D38"/>
                </a:solidFill>
                <a:latin typeface="Aptos"/>
                <a:ea typeface="Aptos"/>
                <a:cs typeface="Aptos"/>
              </a:rPr>
              <a:t>Interview integration</a:t>
            </a:r>
            <a:endParaRPr sz="124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21E847AE-2502-4C6D-B618-2722F5F8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6352" y="4590288"/>
            <a:ext cx="27432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40">
                <a:solidFill>
                  <a:srgbClr val="5A706B"/>
                </a:solidFill>
                <a:latin typeface="Aptos"/>
                <a:ea typeface="Aptos"/>
                <a:cs typeface="Aptos"/>
              </a:rPr>
              <a:t>LiveKit/observer, consent and startup boundaries were fragile.</a:t>
            </a:r>
            <a:endParaRPr sz="114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8E2DC4C6-A563-48F2-BE3D-35C0FE22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992" y="4590288"/>
            <a:ext cx="315468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40">
                <a:solidFill>
                  <a:srgbClr val="193D38"/>
                </a:solidFill>
                <a:latin typeface="Aptos"/>
                <a:ea typeface="Aptos"/>
                <a:cs typeface="Aptos"/>
              </a:rPr>
              <a:t>Working Cloud F3; real F4 audio reached provider but produced no recognized captions.</a:t>
            </a:r>
            <a:endParaRPr sz="1140"/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7FC218A5-A260-488C-B139-A4D4F66F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4645152"/>
            <a:ext cx="2267712" cy="274320"/>
          </a:xfrm>
          <a:prstGeom xmlns:a="http://schemas.openxmlformats.org/drawingml/2006/main" prst="roundRect">
            <a:avLst>
              <a:gd name="adj" fmla="val 60000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12700">
            <a:solidFill>
              <a:srgbClr val="FFF5DF">
                <a:alpha val="0"/>
              </a:srgbClr>
            </a:solidFill>
            <a:prstDash val="solid"/>
          </a:ln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427C28CE-C662-40C4-B35B-6F6C1EAA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4686300"/>
            <a:ext cx="2103120" cy="1920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30" b="1">
                <a:solidFill>
                  <a:srgbClr val="926B21"/>
                </a:solidFill>
                <a:latin typeface="Aptos"/>
                <a:ea typeface="Aptos"/>
                <a:cs typeface="Aptos"/>
              </a:rPr>
              <a:t>Media verified; combined STT chain partial</a:t>
            </a:r>
            <a:endParaRPr sz="930"/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FC0744A5-930B-40DB-9C11-3873865A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5266944"/>
            <a:ext cx="10945368" cy="6858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CF6F1"/>
          </a:solidFill>
          <a:ln xmlns:a="http://schemas.openxmlformats.org/drawingml/2006/main" w="12700">
            <a:solidFill>
              <a:srgbClr val="ECF6F1">
                <a:alpha val="0"/>
              </a:srgbClr>
            </a:solidFill>
            <a:prstDash val="solid"/>
          </a:ln>
        </p:spPr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43027EF5-FB2A-422D-A415-5D4A8847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5385816"/>
            <a:ext cx="1965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050"/>
            </a:defPPr>
            <a:lvl1pPr>
              <a:buNone/>
              <a:defRPr sz="1050"/>
            </a:lvl1pPr>
            <a:lvl2pPr>
              <a:buNone/>
              <a:defRPr sz="1050"/>
            </a:lvl2pPr>
            <a:lvl3pPr>
              <a:buNone/>
              <a:defRPr sz="1050"/>
            </a:lvl3pPr>
            <a:lvl4pPr>
              <a:buNone/>
              <a:defRPr sz="1050"/>
            </a:lvl4pPr>
            <a:lvl5pPr>
              <a:buNone/>
              <a:defRPr sz="1050"/>
            </a:lvl5pPr>
            <a:lvl6pPr>
              <a:buNone/>
              <a:defRPr sz="1050"/>
            </a:lvl6pPr>
            <a:lvl7pPr>
              <a:buNone/>
              <a:defRPr sz="1050"/>
            </a:lvl7pPr>
            <a:lvl8pPr>
              <a:buNone/>
              <a:defRPr sz="1050"/>
            </a:lvl8pPr>
            <a:lvl9pPr>
              <a:buNone/>
              <a:defRPr sz="1050"/>
            </a:lvl9pPr>
          </a:lstStyle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93D38"/>
                </a:solidFill>
                <a:latin typeface="Aptos"/>
                <a:ea typeface="Aptos"/>
                <a:cs typeface="Aptos"/>
              </a:rPr>
              <a:t>External integrations / privacy</a:t>
            </a:r>
            <a:endParaRPr sz="1240"/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678EAECD-8589-4952-AA35-93F75A34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6352" y="5404104"/>
            <a:ext cx="274320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975"/>
            </a:defPPr>
            <a:lvl1pPr>
              <a:buNone/>
              <a:defRPr sz="975"/>
            </a:lvl1pPr>
            <a:lvl2pPr>
              <a:buNone/>
              <a:defRPr sz="975"/>
            </a:lvl2pPr>
            <a:lvl3pPr>
              <a:buNone/>
              <a:defRPr sz="975"/>
            </a:lvl3pPr>
            <a:lvl4pPr>
              <a:buNone/>
              <a:defRPr sz="975"/>
            </a:lvl4pPr>
            <a:lvl5pPr>
              <a:buNone/>
              <a:defRPr sz="975"/>
            </a:lvl5pPr>
            <a:lvl6pPr>
              <a:buNone/>
              <a:defRPr sz="975"/>
            </a:lvl6pPr>
            <a:lvl7pPr>
              <a:buNone/>
              <a:defRPr sz="975"/>
            </a:lvl7pPr>
            <a:lvl8pPr>
              <a:buNone/>
              <a:defRPr sz="975"/>
            </a:lvl8pPr>
            <a:lvl9pPr>
              <a:buNone/>
              <a:defRPr sz="975"/>
            </a:lvl9pPr>
          </a:lstStyle>
          <a:p xmlns:a="http://schemas.openxmlformats.org/drawingml/2006/main">
            <a:pPr marL="0" indent="0" algn="l">
              <a:buNone/>
            </a:pPr>
            <a:r>
              <a:rPr sz="975">
                <a:solidFill>
                  <a:srgbClr val="5A706B"/>
                </a:solidFill>
                <a:latin typeface="Aptos"/>
                <a:ea typeface="Aptos"/>
                <a:cs typeface="Aptos"/>
              </a:rPr>
              <a:t>Imports, posts and biometric experiments need distinct evidence.</a:t>
            </a:r>
            <a:endParaRPr sz="1140"/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9951FB63-0FBC-4854-9C26-5BDE985F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992" y="5404104"/>
            <a:ext cx="315468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975"/>
            </a:defPPr>
            <a:lvl1pPr>
              <a:buNone/>
              <a:defRPr sz="975"/>
            </a:lvl1pPr>
            <a:lvl2pPr>
              <a:buNone/>
              <a:defRPr sz="975"/>
            </a:lvl2pPr>
            <a:lvl3pPr>
              <a:buNone/>
              <a:defRPr sz="975"/>
            </a:lvl3pPr>
            <a:lvl4pPr>
              <a:buNone/>
              <a:defRPr sz="975"/>
            </a:lvl4pPr>
            <a:lvl5pPr>
              <a:buNone/>
              <a:defRPr sz="975"/>
            </a:lvl5pPr>
            <a:lvl6pPr>
              <a:buNone/>
              <a:defRPr sz="975"/>
            </a:lvl6pPr>
            <a:lvl7pPr>
              <a:buNone/>
              <a:defRPr sz="975"/>
            </a:lvl7pPr>
            <a:lvl8pPr>
              <a:buNone/>
              <a:defRPr sz="975"/>
            </a:lvl8pPr>
            <a:lvl9pPr>
              <a:buNone/>
              <a:defRPr sz="975"/>
            </a:lvl9pPr>
          </a:lstStyle>
          <a:p xmlns:a="http://schemas.openxmlformats.org/drawingml/2006/main">
            <a:pPr marL="0" indent="0" algn="l">
              <a:buNone/>
            </a:pPr>
            <a:r>
              <a:rPr sz="975">
                <a:solidFill>
                  <a:srgbClr val="193D38"/>
                </a:solidFill>
                <a:latin typeface="Aptos"/>
                <a:ea typeface="Aptos"/>
                <a:cs typeface="Aptos"/>
              </a:rPr>
              <a:t>One approved Google import and Discord post; face identity unverified.</a:t>
            </a:r>
            <a:endParaRPr sz="1140"/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1C70CCB9-050B-4960-8806-12B8FF99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5458968"/>
            <a:ext cx="2267712" cy="274320"/>
          </a:xfrm>
          <a:prstGeom xmlns:a="http://schemas.openxmlformats.org/drawingml/2006/main" prst="roundRect">
            <a:avLst>
              <a:gd name="adj" fmla="val 60000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12700">
            <a:solidFill>
              <a:srgbClr val="FFF5DF">
                <a:alpha val="0"/>
              </a:srgbClr>
            </a:solidFill>
            <a:prstDash val="solid"/>
          </a:ln>
        </p:spPr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981F8A43-109E-414A-9285-B233234F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5500116"/>
            <a:ext cx="2103120" cy="1920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825"/>
            </a:defPPr>
            <a:lvl1pPr>
              <a:buNone/>
              <a:defRPr sz="825"/>
            </a:lvl1pPr>
            <a:lvl2pPr>
              <a:buNone/>
              <a:defRPr sz="825"/>
            </a:lvl2pPr>
            <a:lvl3pPr>
              <a:buNone/>
              <a:defRPr sz="825"/>
            </a:lvl3pPr>
            <a:lvl4pPr>
              <a:buNone/>
              <a:defRPr sz="825"/>
            </a:lvl4pPr>
            <a:lvl5pPr>
              <a:buNone/>
              <a:defRPr sz="825"/>
            </a:lvl5pPr>
            <a:lvl6pPr>
              <a:buNone/>
              <a:defRPr sz="825"/>
            </a:lvl6pPr>
            <a:lvl7pPr>
              <a:buNone/>
              <a:defRPr sz="825"/>
            </a:lvl7pPr>
            <a:lvl8pPr>
              <a:buNone/>
              <a:defRPr sz="825"/>
            </a:lvl8pPr>
            <a:lvl9pPr>
              <a:buNone/>
              <a:defRPr sz="825"/>
            </a:lvl9pPr>
          </a:lstStyle>
          <a:p xmlns:a="http://schemas.openxmlformats.org/drawingml/2006/main">
            <a:pPr marL="0" indent="0" algn="ctr">
              <a:buNone/>
            </a:pPr>
            <a:r>
              <a:rPr sz="825" b="1">
                <a:solidFill>
                  <a:srgbClr val="926B21"/>
                </a:solidFill>
                <a:latin typeface="Aptos"/>
                <a:ea typeface="Aptos"/>
                <a:cs typeface="Aptos"/>
              </a:rPr>
              <a:t>Scoped imports/posts only</a:t>
            </a:r>
            <a:endParaRPr sz="930"/>
          </a:p>
        </p:txBody>
      </p:sp>
    </p:spTree>
    <p:extLst>
      <p:ext uri="{BB962C8B-B14F-4D97-AF65-F5344CB8AC3E}">
        <p14:creationId xmlns:p14="http://schemas.microsoft.com/office/powerpoint/2010/main" val="143898050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508D99A-9095-497E-A536-885DDF10A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F7FAF8"/>
          </a:solidFill>
          <a:ln xmlns:a="http://schemas.openxmlformats.org/drawingml/2006/main" w="12700">
            <a:solidFill>
              <a:srgbClr val="F7FAF8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43A4101-59E8-418C-883D-2A29D4DF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2296" cy="6858000"/>
          </a:xfrm>
          <a:prstGeom xmlns:a="http://schemas.openxmlformats.org/drawingml/2006/main" prst="roundRect">
            <a:avLst>
              <a:gd name="adj" fmla="val 177778"/>
            </a:avLst>
          </a:prstGeom>
          <a:solidFill xmlns:a="http://schemas.openxmlformats.org/drawingml/2006/main">
            <a:srgbClr val="104D43"/>
          </a:solidFill>
          <a:ln xmlns:a="http://schemas.openxmlformats.org/drawingml/2006/main" w="12700">
            <a:solidFill>
              <a:srgbClr val="104D43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04FA40E-6A0E-49D7-B867-4643381D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393192" cy="393192"/>
          </a:xfrm>
          <a:prstGeom xmlns:a="http://schemas.openxmlformats.org/drawingml/2006/main" prst="roundRect">
            <a:avLst>
              <a:gd name="adj" fmla="val 23256"/>
            </a:avLst>
          </a:prstGeom>
          <a:solidFill xmlns:a="http://schemas.openxmlformats.org/drawingml/2006/main">
            <a:srgbClr val="197C6A"/>
          </a:solidFill>
          <a:ln xmlns:a="http://schemas.openxmlformats.org/drawingml/2006/main" w="12700">
            <a:solidFill>
              <a:srgbClr val="197C6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C72FE6B-8C53-498B-84C8-BB6C4EA0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4904"/>
            <a:ext cx="39319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</a:t>
            </a:r>
            <a:endParaRPr sz="2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FC8FDF3-6CD5-4B80-BF51-8C7A4B87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" y="374904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 spc="90">
                <a:solidFill>
                  <a:srgbClr val="104D43"/>
                </a:solidFill>
                <a:latin typeface="Aptos"/>
                <a:ea typeface="Aptos"/>
                <a:cs typeface="Aptos"/>
              </a:rPr>
              <a:t>TALENTTRACE AI</a:t>
            </a:r>
            <a:endParaRPr sz="12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A0AF56A-7EA9-4290-A11B-F755D1EA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402336"/>
            <a:ext cx="23774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30" b="1" spc="100">
                <a:solidFill>
                  <a:srgbClr val="5A706B"/>
                </a:solidFill>
                <a:latin typeface="Aptos"/>
                <a:ea typeface="Aptos"/>
                <a:cs typeface="Aptos"/>
              </a:rPr>
              <a:t>HONEST PROGRESS</a:t>
            </a:r>
            <a:endParaRPr sz="103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08D96C2-FF3D-4F5B-8C37-EAA8633E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77824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CE7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FE0DA56-A9E9-4519-8E6F-7C02434B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1060704"/>
            <a:ext cx="1106424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2475"/>
            </a:defPPr>
            <a:lvl1pPr>
              <a:buNone/>
              <a:defRPr sz="2475"/>
            </a:lvl1pPr>
            <a:lvl2pPr>
              <a:buNone/>
              <a:defRPr sz="2475"/>
            </a:lvl2pPr>
            <a:lvl3pPr>
              <a:buNone/>
              <a:defRPr sz="2475"/>
            </a:lvl3pPr>
            <a:lvl4pPr>
              <a:buNone/>
              <a:defRPr sz="2475"/>
            </a:lvl4pPr>
            <a:lvl5pPr>
              <a:buNone/>
              <a:defRPr sz="2475"/>
            </a:lvl5pPr>
            <a:lvl6pPr>
              <a:buNone/>
              <a:defRPr sz="2475"/>
            </a:lvl6pPr>
            <a:lvl7pPr>
              <a:buNone/>
              <a:defRPr sz="2475"/>
            </a:lvl7pPr>
            <a:lvl8pPr>
              <a:buNone/>
              <a:defRPr sz="2475"/>
            </a:lvl8pPr>
            <a:lvl9pPr>
              <a:buNone/>
              <a:defRPr sz="2475"/>
            </a:lvl9pPr>
          </a:lstStyle>
          <a:p xmlns:a="http://schemas.openxmlformats.org/drawingml/2006/main">
            <a:pPr marL="0" indent="0" algn="l">
              <a:buNone/>
            </a:pPr>
            <a:r>
              <a:rPr sz="2475" b="1">
                <a:solidFill>
                  <a:srgbClr val="104D43"/>
                </a:solidFill>
                <a:latin typeface="Aptos"/>
                <a:ea typeface="Aptos"/>
                <a:cs typeface="Aptos"/>
              </a:rPr>
              <a:t>Current status and future improvements</a:t>
            </a:r>
            <a:endParaRPr sz="27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C4344DC-48F2-407F-8A7D-C757EC3EC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18488"/>
            <a:ext cx="10881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275"/>
            </a:defPPr>
            <a:lvl1pPr>
              <a:buNone/>
              <a:defRPr sz="1275"/>
            </a:lvl1pPr>
            <a:lvl2pPr>
              <a:buNone/>
              <a:defRPr sz="1275"/>
            </a:lvl2pPr>
            <a:lvl3pPr>
              <a:buNone/>
              <a:defRPr sz="1275"/>
            </a:lvl3pPr>
            <a:lvl4pPr>
              <a:buNone/>
              <a:defRPr sz="1275"/>
            </a:lvl4pPr>
            <a:lvl5pPr>
              <a:buNone/>
              <a:defRPr sz="1275"/>
            </a:lvl5pPr>
            <a:lvl6pPr>
              <a:buNone/>
              <a:defRPr sz="1275"/>
            </a:lvl6pPr>
            <a:lvl7pPr>
              <a:buNone/>
              <a:defRPr sz="1275"/>
            </a:lvl7pPr>
            <a:lvl8pPr>
              <a:buNone/>
              <a:defRPr sz="1275"/>
            </a:lvl8pPr>
            <a:lvl9pPr>
              <a:buNone/>
              <a:defRPr sz="1275"/>
            </a:lvl9pPr>
          </a:lstStyle>
          <a:p xmlns:a="http://schemas.openxmlformats.org/drawingml/2006/main">
            <a:pPr marL="0" indent="0" algn="l">
              <a:buNone/>
            </a:pPr>
            <a:r>
              <a:rPr sz="1275">
                <a:solidFill>
                  <a:srgbClr val="5A706B"/>
                </a:solidFill>
                <a:latin typeface="Aptos"/>
                <a:ea typeface="Aptos"/>
                <a:cs typeface="Aptos"/>
              </a:rPr>
              <a:t>Evidence through 28 October 2026. Separate successful trials do not prove the full live chain.</a:t>
            </a:r>
            <a:endParaRPr sz="14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28AF48F-0A33-4398-9C46-D2B9FF673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446520"/>
            <a:ext cx="111282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DCE7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5322CCE-B238-4408-804C-1D535275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6519672"/>
            <a:ext cx="7863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900">
                <a:solidFill>
                  <a:srgbClr val="8C9A97"/>
                </a:solidFill>
                <a:latin typeface="Aptos"/>
                <a:ea typeface="Aptos"/>
                <a:cs typeface="Aptos"/>
              </a:rPr>
              <a:t>AI Trainee Programme  /  BJIT final project  /  October 2026</a:t>
            </a:r>
            <a:endParaRPr sz="90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DF83A3F-8A4D-408F-B3C2-377474177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4472" y="6519672"/>
            <a:ext cx="9601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30">
                <a:solidFill>
                  <a:srgbClr val="8C9A97"/>
                </a:solidFill>
                <a:latin typeface="Aptos"/>
                <a:ea typeface="Aptos"/>
                <a:cs typeface="Aptos"/>
              </a:rPr>
              <a:t>14 / 18</a:t>
            </a:r>
            <a:endParaRPr sz="93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40B4365F-6CE2-4CC4-805C-2E47AFA4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" y="2066544"/>
            <a:ext cx="3310128" cy="3474720"/>
          </a:xfrm>
          <a:prstGeom xmlns:a="http://schemas.openxmlformats.org/drawingml/2006/main" prst="roundRect">
            <a:avLst>
              <a:gd name="adj" fmla="val 44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7E2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93345D15-FFAE-4DD9-9056-7CE837B19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2240280"/>
            <a:ext cx="2962656" cy="576072"/>
          </a:xfrm>
          <a:prstGeom xmlns:a="http://schemas.openxmlformats.org/drawingml/2006/main" prst="roundRect">
            <a:avLst>
              <a:gd name="adj" fmla="val 15873"/>
            </a:avLst>
          </a:prstGeom>
          <a:solidFill xmlns:a="http://schemas.openxmlformats.org/drawingml/2006/main">
            <a:srgbClr val="DCF0E7"/>
          </a:solidFill>
          <a:ln xmlns:a="http://schemas.openxmlformats.org/drawingml/2006/main" w="12700">
            <a:solidFill>
              <a:srgbClr val="DCF0E7">
                <a:alpha val="0"/>
              </a:srgbClr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9C266127-A326-402C-A0F3-88119D6E3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2331720"/>
            <a:ext cx="269748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04D43"/>
                </a:solidFill>
                <a:latin typeface="Aptos"/>
                <a:ea typeface="Aptos"/>
                <a:cs typeface="Aptos"/>
              </a:rPr>
              <a:t>CURRENT VERIFIED EVIDENCE</a:t>
            </a:r>
            <a:endParaRPr sz="12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8E92D3C5-7A20-450C-B630-F184443DC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054096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C6A"/>
          </a:solidFill>
          <a:ln xmlns:a="http://schemas.openxmlformats.org/drawingml/2006/main" w="12700">
            <a:solidFill>
              <a:srgbClr val="197C6A">
                <a:alpha val="0"/>
              </a:srgbClr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7DE7D22A-894C-4D8E-83C7-59EAD23B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2944368"/>
            <a:ext cx="248716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65">
                <a:solidFill>
                  <a:srgbClr val="193D38"/>
                </a:solidFill>
                <a:latin typeface="Aptos"/>
                <a:ea typeface="Aptos"/>
                <a:cs typeface="Aptos"/>
              </a:rPr>
              <a:t>Real Groq JD refinement and saved revision</a:t>
            </a:r>
            <a:endParaRPr sz="1165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F3914099-7D28-4079-8D07-72B452FD1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602736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C6A"/>
          </a:solidFill>
          <a:ln xmlns:a="http://schemas.openxmlformats.org/drawingml/2006/main" w="12700">
            <a:solidFill>
              <a:srgbClr val="197C6A">
                <a:alpha val="0"/>
              </a:srgbClr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067501B7-3405-499A-9339-69DDE245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493008"/>
            <a:ext cx="248716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65">
                <a:solidFill>
                  <a:srgbClr val="193D38"/>
                </a:solidFill>
                <a:latin typeface="Aptos"/>
                <a:ea typeface="Aptos"/>
                <a:cs typeface="Aptos"/>
              </a:rPr>
              <a:t>One approved Google CV import; Discord post</a:t>
            </a:r>
            <a:endParaRPr sz="1165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709DCBB3-62B0-4E87-A0C9-EDFA9558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151376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C6A"/>
          </a:solidFill>
          <a:ln xmlns:a="http://schemas.openxmlformats.org/drawingml/2006/main" w="12700">
            <a:solidFill>
              <a:srgbClr val="197C6A">
                <a:alpha val="0"/>
              </a:srgbClr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D9ECA68D-BD88-435C-ABDD-24D31DF4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4041648"/>
            <a:ext cx="248716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65">
                <a:solidFill>
                  <a:srgbClr val="193D38"/>
                </a:solidFill>
                <a:latin typeface="Aptos"/>
                <a:ea typeface="Aptos"/>
                <a:cs typeface="Aptos"/>
              </a:rPr>
              <a:t>F3 two-person Cloud media (generated A/V)</a:t>
            </a:r>
            <a:endParaRPr sz="1165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110FEE44-B98E-4800-9A28-530814C2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700016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C6A"/>
          </a:solidFill>
          <a:ln xmlns:a="http://schemas.openxmlformats.org/drawingml/2006/main" w="12700">
            <a:solidFill>
              <a:srgbClr val="197C6A">
                <a:alpha val="0"/>
              </a:srgbClr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3471DCC1-ED1A-4BBF-B69D-D684E42F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4590288"/>
            <a:ext cx="248716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65">
                <a:solidFill>
                  <a:srgbClr val="193D38"/>
                </a:solidFill>
                <a:latin typeface="Aptos"/>
                <a:ea typeface="Aptos"/>
                <a:cs typeface="Aptos"/>
              </a:rPr>
              <a:t>F6 evidence report and browser PDF export</a:t>
            </a:r>
            <a:endParaRPr sz="1165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F2FD55A9-9C2A-4B90-86A7-BC4F14C6A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272" y="2066544"/>
            <a:ext cx="3310128" cy="3474720"/>
          </a:xfrm>
          <a:prstGeom xmlns:a="http://schemas.openxmlformats.org/drawingml/2006/main" prst="roundRect">
            <a:avLst>
              <a:gd name="adj" fmla="val 44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7E2"/>
            </a:solidFill>
            <a:prstDash val="solid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D51788AE-CA7B-403F-9F19-DB485640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6864" y="2240280"/>
            <a:ext cx="2962656" cy="576072"/>
          </a:xfrm>
          <a:prstGeom xmlns:a="http://schemas.openxmlformats.org/drawingml/2006/main" prst="roundRect">
            <a:avLst>
              <a:gd name="adj" fmla="val 15873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12700">
            <a:solidFill>
              <a:srgbClr val="FFF5DF">
                <a:alpha val="0"/>
              </a:srgbClr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2FCA0EE2-5EBC-4283-8AD0-3D7011BB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331720"/>
            <a:ext cx="269748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04D43"/>
                </a:solidFill>
                <a:latin typeface="Aptos"/>
                <a:ea typeface="Aptos"/>
                <a:cs typeface="Aptos"/>
              </a:rPr>
              <a:t>PARTIAL / UNVERIFIED</a:t>
            </a:r>
            <a:endParaRPr sz="1200">
              <a:latin typeface="Aptos"/>
              <a:ea typeface="Aptos"/>
              <a:cs typeface="Aptos"/>
            </a:endParaRP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3A653C40-1505-4E0A-9DF3-363A0FBC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3054096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B84B"/>
          </a:solidFill>
          <a:ln xmlns:a="http://schemas.openxmlformats.org/drawingml/2006/main" w="12700">
            <a:solidFill>
              <a:srgbClr val="F1B84B">
                <a:alpha val="0"/>
              </a:srgbClr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D9B0E214-AFE0-4B42-B5E6-92C78B515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2944368"/>
            <a:ext cx="248716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125"/>
            </a:defPPr>
            <a:lvl1pPr>
              <a:buNone/>
              <a:defRPr sz="1125"/>
            </a:lvl1pPr>
            <a:lvl2pPr>
              <a:buNone/>
              <a:defRPr sz="1125"/>
            </a:lvl2pPr>
            <a:lvl3pPr>
              <a:buNone/>
              <a:defRPr sz="1125"/>
            </a:lvl3pPr>
            <a:lvl4pPr>
              <a:buNone/>
              <a:defRPr sz="1125"/>
            </a:lvl4pPr>
            <a:lvl5pPr>
              <a:buNone/>
              <a:defRPr sz="1125"/>
            </a:lvl5pPr>
            <a:lvl6pPr>
              <a:buNone/>
              <a:defRPr sz="1125"/>
            </a:lvl6pPr>
            <a:lvl7pPr>
              <a:buNone/>
              <a:defRPr sz="1125"/>
            </a:lvl7pPr>
            <a:lvl8pPr>
              <a:buNone/>
              <a:defRPr sz="1125"/>
            </a:lvl8pPr>
            <a:lvl9pPr>
              <a:buNone/>
              <a:defRPr sz="1125"/>
            </a:lvl9pPr>
          </a:lstStyle>
          <a:p xmlns:a="http://schemas.openxmlformats.org/drawingml/2006/main">
            <a:r>
              <a:rPr sz="1125">
                <a:solidFill>
                  <a:srgbClr val="193D38"/>
                </a:solidFill>
                <a:latin typeface="Aptos"/>
                <a:ea typeface="Aptos"/>
                <a:cs typeface="Aptos"/>
              </a:rPr>
              <a:t>N1: 20 parsed, 4 numeric scores, one terminal rate-limit failure</a:t>
            </a:r>
            <a:endParaRPr sz="1150">
              <a:solidFill>
                <a:srgbClr val="193D3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B9F465AD-932E-4AC4-900B-566915D0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3602736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B84B"/>
          </a:solidFill>
          <a:ln xmlns:a="http://schemas.openxmlformats.org/drawingml/2006/main" w="12700">
            <a:solidFill>
              <a:srgbClr val="F1B84B">
                <a:alpha val="0"/>
              </a:srgbClr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18781062-B113-451C-8439-A28A9B7C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3493008"/>
            <a:ext cx="248716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125"/>
            </a:defPPr>
            <a:lvl1pPr>
              <a:buNone/>
              <a:defRPr sz="1125"/>
            </a:lvl1pPr>
            <a:lvl2pPr>
              <a:buNone/>
              <a:defRPr sz="1125"/>
            </a:lvl2pPr>
            <a:lvl3pPr>
              <a:buNone/>
              <a:defRPr sz="1125"/>
            </a:lvl3pPr>
            <a:lvl4pPr>
              <a:buNone/>
              <a:defRPr sz="1125"/>
            </a:lvl4pPr>
            <a:lvl5pPr>
              <a:buNone/>
              <a:defRPr sz="1125"/>
            </a:lvl5pPr>
            <a:lvl6pPr>
              <a:buNone/>
              <a:defRPr sz="1125"/>
            </a:lvl6pPr>
            <a:lvl7pPr>
              <a:buNone/>
              <a:defRPr sz="1125"/>
            </a:lvl7pPr>
            <a:lvl8pPr>
              <a:buNone/>
              <a:defRPr sz="1125"/>
            </a:lvl8pPr>
            <a:lvl9pPr>
              <a:buNone/>
              <a:defRPr sz="1125"/>
            </a:lvl9pPr>
          </a:lstStyle>
          <a:p xmlns:a="http://schemas.openxmlformats.org/drawingml/2006/main">
            <a:r>
              <a:rPr sz="1125">
                <a:solidFill>
                  <a:srgbClr val="193D38"/>
                </a:solidFill>
                <a:latin typeface="Aptos"/>
                <a:ea typeface="Aptos"/>
                <a:cs typeface="Aptos"/>
              </a:rPr>
              <a:t>F4: latest live browser produced zero recognized captions</a:t>
            </a:r>
            <a:endParaRPr sz="1150">
              <a:latin typeface="Aptos"/>
              <a:ea typeface="Aptos"/>
              <a:cs typeface="Aptos"/>
            </a:endParaRPr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23477331-FF5C-4E80-89FD-562032A6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4151376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B84B"/>
          </a:solidFill>
          <a:ln xmlns:a="http://schemas.openxmlformats.org/drawingml/2006/main" w="12700">
            <a:solidFill>
              <a:srgbClr val="F1B84B">
                <a:alpha val="0"/>
              </a:srgbClr>
            </a:solidFill>
            <a:prstDash val="solid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A3F50BAE-7A4A-42D2-98D2-F12789ED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4041648"/>
            <a:ext cx="248716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125"/>
            </a:defPPr>
            <a:lvl1pPr>
              <a:buNone/>
              <a:defRPr sz="1125"/>
            </a:lvl1pPr>
            <a:lvl2pPr>
              <a:buNone/>
              <a:defRPr sz="1125"/>
            </a:lvl2pPr>
            <a:lvl3pPr>
              <a:buNone/>
              <a:defRPr sz="1125"/>
            </a:lvl3pPr>
            <a:lvl4pPr>
              <a:buNone/>
              <a:defRPr sz="1125"/>
            </a:lvl4pPr>
            <a:lvl5pPr>
              <a:buNone/>
              <a:defRPr sz="1125"/>
            </a:lvl5pPr>
            <a:lvl6pPr>
              <a:buNone/>
              <a:defRPr sz="1125"/>
            </a:lvl6pPr>
            <a:lvl7pPr>
              <a:buNone/>
              <a:defRPr sz="1125"/>
            </a:lvl7pPr>
            <a:lvl8pPr>
              <a:buNone/>
              <a:defRPr sz="1125"/>
            </a:lvl8pPr>
            <a:lvl9pPr>
              <a:buNone/>
              <a:defRPr sz="1125"/>
            </a:lvl9pPr>
          </a:lstStyle>
          <a:p xmlns:a="http://schemas.openxmlformats.org/drawingml/2006/main">
            <a:r>
              <a:rPr sz="1125">
                <a:solidFill>
                  <a:srgbClr val="193D38"/>
                </a:solidFill>
                <a:latin typeface="Aptos"/>
                <a:ea typeface="Aptos"/>
                <a:cs typeface="Aptos"/>
              </a:rPr>
              <a:t>F5: model double; F11: fake-STT browser acceptance</a:t>
            </a:r>
            <a:endParaRPr sz="1150">
              <a:latin typeface="Aptos"/>
              <a:ea typeface="Aptos"/>
              <a:cs typeface="Aptos"/>
            </a:endParaRP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95DC31DF-04CC-4E79-8E02-5404B80A9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4700016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B84B"/>
          </a:solidFill>
          <a:ln xmlns:a="http://schemas.openxmlformats.org/drawingml/2006/main" w="12700">
            <a:solidFill>
              <a:srgbClr val="F1B84B">
                <a:alpha val="0"/>
              </a:srgbClr>
            </a:solidFill>
            <a:prstDash val="solid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650391E4-5F5E-4F8D-B0A9-E59B3583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4590288"/>
            <a:ext cx="248716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125"/>
            </a:defPPr>
            <a:lvl1pPr>
              <a:buNone/>
              <a:defRPr sz="1125"/>
            </a:lvl1pPr>
            <a:lvl2pPr>
              <a:buNone/>
              <a:defRPr sz="1125"/>
            </a:lvl2pPr>
            <a:lvl3pPr>
              <a:buNone/>
              <a:defRPr sz="1125"/>
            </a:lvl3pPr>
            <a:lvl4pPr>
              <a:buNone/>
              <a:defRPr sz="1125"/>
            </a:lvl4pPr>
            <a:lvl5pPr>
              <a:buNone/>
              <a:defRPr sz="1125"/>
            </a:lvl5pPr>
            <a:lvl6pPr>
              <a:buNone/>
              <a:defRPr sz="1125"/>
            </a:lvl6pPr>
            <a:lvl7pPr>
              <a:buNone/>
              <a:defRPr sz="1125"/>
            </a:lvl7pPr>
            <a:lvl8pPr>
              <a:buNone/>
              <a:defRPr sz="1125"/>
            </a:lvl8pPr>
            <a:lvl9pPr>
              <a:buNone/>
              <a:defRPr sz="1125"/>
            </a:lvl9pPr>
          </a:lstStyle>
          <a:p xmlns:a="http://schemas.openxmlformats.org/drawingml/2006/main">
            <a:pPr marL="0" indent="0" algn="l">
              <a:buNone/>
            </a:pPr>
            <a:r>
              <a:rPr sz="1125">
                <a:solidFill>
                  <a:srgbClr val="193D38"/>
                </a:solidFill>
                <a:latin typeface="Aptos"/>
                <a:ea typeface="Aptos"/>
                <a:cs typeface="Aptos"/>
              </a:rPr>
              <a:t>N19 broad deletion and N21 second-machine proof remain partial</a:t>
            </a:r>
            <a:endParaRPr sz="1165"/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1F35DBC4-264A-4D73-B3A1-577BF77F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2066544"/>
            <a:ext cx="3310128" cy="3474720"/>
          </a:xfrm>
          <a:prstGeom xmlns:a="http://schemas.openxmlformats.org/drawingml/2006/main" prst="roundRect">
            <a:avLst>
              <a:gd name="adj" fmla="val 44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7E2"/>
            </a:solidFill>
            <a:prstDash val="solid"/>
          </a:ln>
        </p:spPr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8670E83-5EB4-4026-A8B6-1862DBFF2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40280"/>
            <a:ext cx="2962656" cy="576072"/>
          </a:xfrm>
          <a:prstGeom xmlns:a="http://schemas.openxmlformats.org/drawingml/2006/main" prst="roundRect">
            <a:avLst>
              <a:gd name="adj" fmla="val 15873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12700">
            <a:solidFill>
              <a:srgbClr val="EAF1F8">
                <a:alpha val="0"/>
              </a:srgbClr>
            </a:solidFill>
            <a:prstDash val="solid"/>
          </a:ln>
        </p:spPr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2F0D2205-DD62-45E0-920E-A0921286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6216" y="2331720"/>
            <a:ext cx="269748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04D43"/>
                </a:solidFill>
                <a:latin typeface="Aptos"/>
                <a:ea typeface="Aptos"/>
                <a:cs typeface="Aptos"/>
              </a:rPr>
              <a:t>NEXT IMPROVEMENTS</a:t>
            </a:r>
            <a:endParaRPr sz="1200"/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FC487354-562E-401E-973B-82547E3C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8784" y="3054096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7997"/>
          </a:solidFill>
          <a:ln xmlns:a="http://schemas.openxmlformats.org/drawingml/2006/main" w="12700">
            <a:solidFill>
              <a:srgbClr val="587997">
                <a:alpha val="0"/>
              </a:srgbClr>
            </a:solidFill>
            <a:prstDash val="solid"/>
          </a:ln>
        </p:spPr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9FDDE8BE-4C70-4640-B916-FDF9D5BF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9096" y="2944368"/>
            <a:ext cx="248716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125"/>
            </a:defPPr>
            <a:lvl1pPr>
              <a:buNone/>
              <a:defRPr sz="1125"/>
            </a:lvl1pPr>
            <a:lvl2pPr>
              <a:buNone/>
              <a:defRPr sz="1125"/>
            </a:lvl2pPr>
            <a:lvl3pPr>
              <a:buNone/>
              <a:defRPr sz="1125"/>
            </a:lvl3pPr>
            <a:lvl4pPr>
              <a:buNone/>
              <a:defRPr sz="1125"/>
            </a:lvl4pPr>
            <a:lvl5pPr>
              <a:buNone/>
              <a:defRPr sz="1125"/>
            </a:lvl5pPr>
            <a:lvl6pPr>
              <a:buNone/>
              <a:defRPr sz="1125"/>
            </a:lvl6pPr>
            <a:lvl7pPr>
              <a:buNone/>
              <a:defRPr sz="1125"/>
            </a:lvl7pPr>
            <a:lvl8pPr>
              <a:buNone/>
              <a:defRPr sz="1125"/>
            </a:lvl8pPr>
            <a:lvl9pPr>
              <a:buNone/>
              <a:defRPr sz="1125"/>
            </a:lvl9pPr>
          </a:lstStyle>
          <a:p xmlns:a="http://schemas.openxmlformats.org/drawingml/2006/main">
            <a:pPr marL="0" indent="0" algn="l">
              <a:buNone/>
            </a:pPr>
            <a:r>
              <a:rPr sz="1125">
                <a:solidFill>
                  <a:srgbClr val="193D38"/>
                </a:solidFill>
                <a:latin typeface="Aptos"/>
                <a:ea typeface="Aptos"/>
                <a:cs typeface="Aptos"/>
              </a:rPr>
              <a:t>Complete candidate-associated erasure</a:t>
            </a:r>
            <a:endParaRPr sz="1165"/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A7597CC1-12E5-4000-83F3-6C45BA07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8784" y="3602736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7997"/>
          </a:solidFill>
          <a:ln xmlns:a="http://schemas.openxmlformats.org/drawingml/2006/main" w="12700">
            <a:solidFill>
              <a:srgbClr val="587997">
                <a:alpha val="0"/>
              </a:srgbClr>
            </a:solidFill>
            <a:prstDash val="solid"/>
          </a:ln>
        </p:spPr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4E4E5E17-0867-48D0-9425-9029397C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9096" y="3493008"/>
            <a:ext cx="248716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125"/>
            </a:defPPr>
            <a:lvl1pPr>
              <a:buNone/>
              <a:defRPr sz="1125"/>
            </a:lvl1pPr>
            <a:lvl2pPr>
              <a:buNone/>
              <a:defRPr sz="1125"/>
            </a:lvl2pPr>
            <a:lvl3pPr>
              <a:buNone/>
              <a:defRPr sz="1125"/>
            </a:lvl3pPr>
            <a:lvl4pPr>
              <a:buNone/>
              <a:defRPr sz="1125"/>
            </a:lvl4pPr>
            <a:lvl5pPr>
              <a:buNone/>
              <a:defRPr sz="1125"/>
            </a:lvl5pPr>
            <a:lvl6pPr>
              <a:buNone/>
              <a:defRPr sz="1125"/>
            </a:lvl6pPr>
            <a:lvl7pPr>
              <a:buNone/>
              <a:defRPr sz="1125"/>
            </a:lvl7pPr>
            <a:lvl8pPr>
              <a:buNone/>
              <a:defRPr sz="1125"/>
            </a:lvl8pPr>
            <a:lvl9pPr>
              <a:buNone/>
              <a:defRPr sz="1125"/>
            </a:lvl9pPr>
          </a:lstStyle>
          <a:p xmlns:a="http://schemas.openxmlformats.org/drawingml/2006/main">
            <a:pPr marL="0" indent="0" algn="l">
              <a:buNone/>
            </a:pPr>
            <a:r>
              <a:rPr sz="1125">
                <a:solidFill>
                  <a:srgbClr val="193D38"/>
                </a:solidFill>
                <a:latin typeface="Aptos"/>
                <a:ea typeface="Aptos"/>
                <a:cs typeface="Aptos"/>
              </a:rPr>
              <a:t>Verify a complete 20-CV provider run</a:t>
            </a:r>
            <a:endParaRPr sz="1165"/>
          </a:p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09159F8C-F34D-4133-8B62-88889AA87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8784" y="4151376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7997"/>
          </a:solidFill>
          <a:ln xmlns:a="http://schemas.openxmlformats.org/drawingml/2006/main" w="12700">
            <a:solidFill>
              <a:srgbClr val="587997">
                <a:alpha val="0"/>
              </a:srgbClr>
            </a:solidFill>
            <a:prstDash val="solid"/>
          </a:ln>
        </p:spPr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256ECC9B-5195-483E-8414-6C715D10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9096" y="4041648"/>
            <a:ext cx="248716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125"/>
            </a:defPPr>
            <a:lvl1pPr>
              <a:buNone/>
              <a:defRPr sz="1125"/>
            </a:lvl1pPr>
            <a:lvl2pPr>
              <a:buNone/>
              <a:defRPr sz="1125"/>
            </a:lvl2pPr>
            <a:lvl3pPr>
              <a:buNone/>
              <a:defRPr sz="1125"/>
            </a:lvl3pPr>
            <a:lvl4pPr>
              <a:buNone/>
              <a:defRPr sz="1125"/>
            </a:lvl4pPr>
            <a:lvl5pPr>
              <a:buNone/>
              <a:defRPr sz="1125"/>
            </a:lvl5pPr>
            <a:lvl6pPr>
              <a:buNone/>
              <a:defRPr sz="1125"/>
            </a:lvl6pPr>
            <a:lvl7pPr>
              <a:buNone/>
              <a:defRPr sz="1125"/>
            </a:lvl7pPr>
            <a:lvl8pPr>
              <a:buNone/>
              <a:defRPr sz="1125"/>
            </a:lvl8pPr>
            <a:lvl9pPr>
              <a:buNone/>
              <a:defRPr sz="1125"/>
            </a:lvl9pPr>
          </a:lstStyle>
          <a:p xmlns:a="http://schemas.openxmlformats.org/drawingml/2006/main">
            <a:pPr marL="0" indent="0" algn="l">
              <a:buNone/>
            </a:pPr>
            <a:r>
              <a:rPr sz="1125">
                <a:solidFill>
                  <a:srgbClr val="193D38"/>
                </a:solidFill>
                <a:latin typeface="Aptos"/>
                <a:ea typeface="Aptos"/>
                <a:cs typeface="Aptos"/>
              </a:rPr>
              <a:t>Complete real browser F4-to-F5/F11 acceptance</a:t>
            </a:r>
            <a:endParaRPr sz="1165"/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B4587BFC-27D6-4C97-A74C-32D17D61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8784" y="4700016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7997"/>
          </a:solidFill>
          <a:ln xmlns:a="http://schemas.openxmlformats.org/drawingml/2006/main" w="12700">
            <a:solidFill>
              <a:srgbClr val="587997">
                <a:alpha val="0"/>
              </a:srgbClr>
            </a:solidFill>
            <a:prstDash val="solid"/>
          </a:ln>
        </p:spPr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6F6C7D1C-1F57-4057-97ED-93A0B6F6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9096" y="4590288"/>
            <a:ext cx="248716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125"/>
            </a:defPPr>
            <a:lvl1pPr>
              <a:buNone/>
              <a:defRPr sz="1125"/>
            </a:lvl1pPr>
            <a:lvl2pPr>
              <a:buNone/>
              <a:defRPr sz="1125"/>
            </a:lvl2pPr>
            <a:lvl3pPr>
              <a:buNone/>
              <a:defRPr sz="1125"/>
            </a:lvl3pPr>
            <a:lvl4pPr>
              <a:buNone/>
              <a:defRPr sz="1125"/>
            </a:lvl4pPr>
            <a:lvl5pPr>
              <a:buNone/>
              <a:defRPr sz="1125"/>
            </a:lvl5pPr>
            <a:lvl6pPr>
              <a:buNone/>
              <a:defRPr sz="1125"/>
            </a:lvl6pPr>
            <a:lvl7pPr>
              <a:buNone/>
              <a:defRPr sz="1125"/>
            </a:lvl7pPr>
            <a:lvl8pPr>
              <a:buNone/>
              <a:defRPr sz="1125"/>
            </a:lvl8pPr>
            <a:lvl9pPr>
              <a:buNone/>
              <a:defRPr sz="1125"/>
            </a:lvl9pPr>
          </a:lstStyle>
          <a:p xmlns:a="http://schemas.openxmlformats.org/drawingml/2006/main">
            <a:pPr marL="0" indent="0" algn="l">
              <a:buNone/>
            </a:pPr>
            <a:r>
              <a:rPr sz="1125">
                <a:solidFill>
                  <a:srgbClr val="193D38"/>
                </a:solidFill>
                <a:latin typeface="Aptos"/>
                <a:ea typeface="Aptos"/>
                <a:cs typeface="Aptos"/>
              </a:rPr>
              <a:t>Verify a second clean machine and approved remote HTTPS setup</a:t>
            </a:r>
            <a:endParaRPr sz="1165"/>
          </a:p>
        </p:txBody>
      </p:sp>
    </p:spTree>
    <p:extLst>
      <p:ext uri="{BB962C8B-B14F-4D97-AF65-F5344CB8AC3E}">
        <p14:creationId xmlns:p14="http://schemas.microsoft.com/office/powerpoint/2010/main" val="49328013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59CE5604-9CFB-4CD0-A5DB-0EB45537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329184"/>
            <a:ext cx="429768" cy="4297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6D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2285344-1548-499D-A997-18C24A58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" y="393192"/>
            <a:ext cx="228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T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9B67492-C01D-4546-8E2E-DE207E48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411480"/>
            <a:ext cx="3474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250" b="1">
                <a:solidFill>
                  <a:srgbClr val="104D43"/>
                </a:solidFill>
                <a:latin typeface="Aptos"/>
                <a:ea typeface="Aptos"/>
                <a:cs typeface="Aptos"/>
              </a:defRPr>
            </a:pPr>
            <a:r>
              <a:t>TALENTTRACE AI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1DA8810-9535-45B8-BBC4-481193C43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02336"/>
            <a:ext cx="3163824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5A706B"/>
                </a:solidFill>
                <a:latin typeface="Aptos"/>
                <a:ea typeface="Aptos"/>
                <a:cs typeface="Aptos"/>
              </a:defRPr>
            </a:pPr>
            <a:r>
              <a:t>AGENTIC ARCHITECTURE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4166CB6-F6C4-4969-86E7-30023541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832104"/>
            <a:ext cx="11027664" cy="155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E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8DAE483-B2E4-4F9D-A607-DA2EAF1C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1033271"/>
            <a:ext cx="109728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750" b="1">
                <a:solidFill>
                  <a:srgbClr val="104D43"/>
                </a:solidFill>
                <a:latin typeface="Aptos"/>
                <a:ea typeface="Aptos"/>
                <a:cs typeface="Aptos"/>
              </a:defRPr>
            </a:pPr>
            <a:r>
              <a:t>LangGraph beyond a single LLM call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4782B91-57A7-47D6-8F23-EBEA0353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09344"/>
            <a:ext cx="109728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400" b="0">
                <a:solidFill>
                  <a:srgbClr val="5A706B"/>
                </a:solidFill>
                <a:latin typeface="Aptos"/>
                <a:ea typeface="Aptos"/>
                <a:cs typeface="Aptos"/>
              </a:defRPr>
            </a:pPr>
            <a:r>
              <a:t>Two separate graphs serve different decisions, each with explicit validation and abstention.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5B703A1-688C-471D-B1AD-9C4326C4D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6492240"/>
            <a:ext cx="731520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8C9A97"/>
                </a:solidFill>
                <a:latin typeface="Aptos"/>
                <a:ea typeface="Aptos"/>
                <a:cs typeface="Aptos"/>
              </a:defRPr>
            </a:pPr>
            <a:r>
              <a:t>AI Trainee Programme  /  BJIT final project  /  October 2026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1FDD7CE-2A31-422C-AA26-19D254EC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9696"/>
            <a:ext cx="512064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600" b="1">
                <a:solidFill>
                  <a:srgbClr val="104D43"/>
                </a:solidFill>
                <a:latin typeface="Aptos"/>
                <a:ea typeface="Aptos"/>
                <a:cs typeface="Aptos"/>
              </a:defRPr>
            </a:pPr>
            <a:r>
              <a:t>F5  •  POST-INTERVIEW EVALUATION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27570465-DE1A-4DCE-9660-79448DA5B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2139696"/>
            <a:ext cx="512064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600" b="1">
                <a:solidFill>
                  <a:srgbClr val="104D43"/>
                </a:solidFill>
                <a:latin typeface="Aptos"/>
                <a:ea typeface="Aptos"/>
                <a:cs typeface="Aptos"/>
              </a:defRPr>
            </a:pPr>
            <a:r>
              <a:t>F11  •  LIVE RECRUITER CO-PILOT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FF2732C4-3706-4309-B9B5-3E634A55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606040"/>
            <a:ext cx="5175504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5F3E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8EC2F9F-6675-48BE-B95F-9495AB1F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606040"/>
            <a:ext cx="64008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D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90D18D4D-6314-4962-B56E-89E7F61DC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70048"/>
            <a:ext cx="4809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93D38"/>
                </a:solidFill>
                <a:latin typeface="Aptos"/>
                <a:ea typeface="Aptos"/>
                <a:cs typeface="Aptos"/>
              </a:defRPr>
            </a:pPr>
            <a:r>
              <a:t>Pair Q&amp;A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C496D1C0-F886-4576-A6E7-9F1ABD6B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6936"/>
            <a:ext cx="4791456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019" b="0">
                <a:solidFill>
                  <a:srgbClr val="5A706B"/>
                </a:solidFill>
                <a:latin typeface="Aptos"/>
                <a:ea typeface="Aptos"/>
                <a:cs typeface="Aptos"/>
              </a:defRPr>
            </a:pPr>
            <a:r>
              <a:t>Speaker-attributed, finalized transcript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2769413A-55B0-4B9B-BF03-115D18DA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300984"/>
            <a:ext cx="5175504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5F3E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953FDB35-1133-4D80-A9BA-350215C3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300984"/>
            <a:ext cx="64008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D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AB776232-D9D2-43A1-9E1D-36F4C4293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64992"/>
            <a:ext cx="4809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93D38"/>
                </a:solidFill>
                <a:latin typeface="Aptos"/>
                <a:ea typeface="Aptos"/>
                <a:cs typeface="Aptos"/>
              </a:defRPr>
            </a:pPr>
            <a:r>
              <a:t>Map requirements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E2F75537-FF6D-4AF8-84EE-14FC04031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1880"/>
            <a:ext cx="4791456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019" b="0">
                <a:solidFill>
                  <a:srgbClr val="5A706B"/>
                </a:solidFill>
                <a:latin typeface="Aptos"/>
                <a:ea typeface="Aptos"/>
                <a:cs typeface="Aptos"/>
              </a:defRPr>
            </a:pPr>
            <a:r>
              <a:t>Confirmed job criteria revision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C38CD333-0434-471B-938F-51C5C236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995928"/>
            <a:ext cx="5175504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5F3E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5E1D70E8-7BF8-44B5-A4CF-D397BABF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995928"/>
            <a:ext cx="64008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D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4BD1A31C-485B-4524-8C54-60D531266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9936"/>
            <a:ext cx="4809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93D38"/>
                </a:solidFill>
                <a:latin typeface="Aptos"/>
                <a:ea typeface="Aptos"/>
                <a:cs typeface="Aptos"/>
              </a:defRPr>
            </a:pPr>
            <a:r>
              <a:t>Retrieve reference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C37E7C99-33E0-4CEE-9E40-49105A51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06824"/>
            <a:ext cx="4791456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019" b="0">
                <a:solidFill>
                  <a:srgbClr val="5A706B"/>
                </a:solidFill>
                <a:latin typeface="Aptos"/>
                <a:ea typeface="Aptos"/>
                <a:cs typeface="Aptos"/>
              </a:defRPr>
            </a:pPr>
            <a:r>
              <a:t>Curated local Python documentation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D0EA924A-A2F8-46A8-9DC9-C45BEADA3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690872"/>
            <a:ext cx="5175504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5F3E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BB435197-B838-4A64-917D-D10721A0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690872"/>
            <a:ext cx="64008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D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8C5DDE1C-9CEA-4D88-B6D6-20AE9549A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54880"/>
            <a:ext cx="4809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93D38"/>
                </a:solidFill>
                <a:latin typeface="Aptos"/>
                <a:ea typeface="Aptos"/>
                <a:cs typeface="Aptos"/>
              </a:defRPr>
            </a:pPr>
            <a:r>
              <a:t>Assess + validate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B19985D5-6108-41F7-9DF4-46D7355B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01768"/>
            <a:ext cx="4791456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019" b="0">
                <a:solidFill>
                  <a:srgbClr val="5A706B"/>
                </a:solidFill>
                <a:latin typeface="Aptos"/>
                <a:ea typeface="Aptos"/>
                <a:cs typeface="Aptos"/>
              </a:defRPr>
            </a:pPr>
            <a:r>
              <a:t>Grounding checks; bounded abstention</a:t>
            </a: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6B425485-1889-4560-9865-5946C2841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606040"/>
            <a:ext cx="5175504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CF7E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1D94B159-2288-41AF-99A7-900B860B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606040"/>
            <a:ext cx="64008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70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93064396-58EA-4C27-86A1-4AEFB351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2670048"/>
            <a:ext cx="4809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93D38"/>
                </a:solidFill>
                <a:latin typeface="Aptos"/>
                <a:ea typeface="Aptos"/>
                <a:cs typeface="Aptos"/>
              </a:defRPr>
            </a:pPr>
            <a:r>
              <a:t>Validate context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1DC46467-1617-4EC3-A7E2-CB0FD178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2916936"/>
            <a:ext cx="4791456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019" b="0">
                <a:solidFill>
                  <a:srgbClr val="5A706B"/>
                </a:solidFill>
                <a:latin typeface="Aptos"/>
                <a:ea typeface="Aptos"/>
                <a:cs typeface="Aptos"/>
              </a:defRPr>
            </a:pPr>
            <a:r>
              <a:t>Run identity, consent and permissions</a:t>
            </a:r>
          </a:p>
        </p:txBody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C560CCB2-B33A-4E8D-AD36-183A4C4F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300984"/>
            <a:ext cx="5175504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CF7E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D1587141-BC87-46C6-BF84-E8530084E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300984"/>
            <a:ext cx="64008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70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0BA482CD-E20A-4F55-9626-CCA166EA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3364992"/>
            <a:ext cx="4809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93D38"/>
                </a:solidFill>
                <a:latin typeface="Aptos"/>
                <a:ea typeface="Aptos"/>
                <a:cs typeface="Aptos"/>
              </a:defRPr>
            </a:pPr>
            <a:r>
              <a:t>Assemble dialogue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E8BCDA3B-559D-4BEC-B4D7-D4ADB87D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3611880"/>
            <a:ext cx="4791456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019" b="0">
                <a:solidFill>
                  <a:srgbClr val="5A706B"/>
                </a:solidFill>
                <a:latin typeface="Aptos"/>
                <a:ea typeface="Aptos"/>
                <a:cs typeface="Aptos"/>
              </a:defRPr>
            </a:pPr>
            <a:r>
              <a:t>Trusted role/time caption events</a:t>
            </a:r>
          </a:p>
        </p:txBody>
      </p:sp>
      <p:sp>
        <p:nvSpPr>
          <p:cNvPr id="36" name="Rounded Rectangle 35">
            <a:extLst xmlns:a="http://schemas.openxmlformats.org/drawingml/2006/main">
              <a:ext uri="{FF2B5EF4-FFF2-40B4-BE49-F238E27FC236}">
                <a16:creationId xmlns:a16="http://schemas.microsoft.com/office/drawing/2014/main" id="{8D5C08F8-C12D-408A-BAED-F2FF148F3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995928"/>
            <a:ext cx="5175504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CF7E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14B84518-3B25-4868-87AF-BE4B1EDB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995928"/>
            <a:ext cx="64008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70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CB6DBF5B-A3ED-4295-A514-6989BA33A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4059936"/>
            <a:ext cx="4809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93D38"/>
                </a:solidFill>
                <a:latin typeface="Aptos"/>
                <a:ea typeface="Aptos"/>
                <a:cs typeface="Aptos"/>
              </a:defRPr>
            </a:pPr>
            <a:r>
              <a:t>Track exploration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1BA57558-940F-4484-9733-DAE8FB27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4306824"/>
            <a:ext cx="4791456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019" b="0">
                <a:solidFill>
                  <a:srgbClr val="5A706B"/>
                </a:solidFill>
                <a:latin typeface="Aptos"/>
                <a:ea typeface="Aptos"/>
                <a:cs typeface="Aptos"/>
              </a:defRPr>
            </a:pPr>
            <a:r>
              <a:t>Answered vs uncovered requirements</a:t>
            </a:r>
          </a:p>
        </p:txBody>
      </p:sp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47715321-34C3-4FC4-965F-69A8910A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4690872"/>
            <a:ext cx="5175504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CF7E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93D3CFBF-4546-4BFD-A093-12E4CE92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4690872"/>
            <a:ext cx="64008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70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8B7C01F3-83BE-4CE3-AD57-06999B8F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4754880"/>
            <a:ext cx="4809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93D38"/>
                </a:solidFill>
                <a:latin typeface="Aptos"/>
                <a:ea typeface="Aptos"/>
                <a:cs typeface="Aptos"/>
              </a:defRPr>
            </a:pPr>
            <a:r>
              <a:t>Select + validate</a:t>
            </a: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ECDD63A3-D1CE-412E-978F-BFEB1A11E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5001768"/>
            <a:ext cx="4791456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019" b="0">
                <a:solidFill>
                  <a:srgbClr val="5A706B"/>
                </a:solidFill>
                <a:latin typeface="Aptos"/>
                <a:ea typeface="Aptos"/>
                <a:cs typeface="Aptos"/>
              </a:defRPr>
            </a:pPr>
            <a:r>
              <a:t>Provisional follow-up or abstain</a:t>
            </a: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D2A2ABF3-AEF7-4111-9513-CF568D37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4472" y="6492240"/>
            <a:ext cx="960120" cy="1583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19" b="0">
                <a:solidFill>
                  <a:srgbClr val="8C9A97"/>
                </a:solidFill>
                <a:latin typeface="Aptos"/>
                <a:ea typeface="Aptos"/>
                <a:cs typeface="Aptos"/>
              </a:defRPr>
            </a:pPr>
            <a:r>
              <a:t>15 / 18</a:t>
            </a:r>
          </a:p>
        </p:txBody>
      </p:sp>
    </p:spTree>
    <p:extLst>
      <p:ext uri="{BB962C8B-B14F-4D97-AF65-F5344CB8AC3E}">
        <p14:creationId xmlns:p14="http://schemas.microsoft.com/office/powerpoint/2010/main" val="98857520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23356646-AD31-444C-A160-C652ED56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329184"/>
            <a:ext cx="429768" cy="4297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6D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D1F88EF-24B6-4C32-9A16-CA6AE9DCE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" y="393192"/>
            <a:ext cx="228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T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B7CA252-899D-4DFC-A79B-781E68315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411480"/>
            <a:ext cx="3474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250" b="1">
                <a:solidFill>
                  <a:srgbClr val="104D43"/>
                </a:solidFill>
                <a:latin typeface="Aptos"/>
                <a:ea typeface="Aptos"/>
                <a:cs typeface="Aptos"/>
              </a:defRPr>
            </a:pPr>
            <a:r>
              <a:t>TALENTTRACE AI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EA49AFD-A0AA-4636-8BB9-FA095EE9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02336"/>
            <a:ext cx="3163824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5A706B"/>
                </a:solidFill>
                <a:latin typeface="Aptos"/>
                <a:ea typeface="Aptos"/>
                <a:cs typeface="Aptos"/>
              </a:defRPr>
            </a:pPr>
            <a:r>
              <a:t>SECURITY &amp; ETHICS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F80D499-0258-4CAF-B408-30E120A1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832104"/>
            <a:ext cx="11027664" cy="155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E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BCF2863-9105-4450-A9FA-F91173BB5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1033271"/>
            <a:ext cx="109728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750" b="1">
                <a:solidFill>
                  <a:srgbClr val="104D43"/>
                </a:solidFill>
                <a:latin typeface="Aptos"/>
                <a:ea typeface="Aptos"/>
                <a:cs typeface="Aptos"/>
              </a:defRPr>
            </a:pPr>
            <a:r>
              <a:t>Privacy and human oversight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5E04B55-C53A-4155-A3C8-76BFC58CD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09344"/>
            <a:ext cx="109728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400" b="0">
                <a:solidFill>
                  <a:srgbClr val="5A706B"/>
                </a:solidFill>
                <a:latin typeface="Aptos"/>
                <a:ea typeface="Aptos"/>
                <a:cs typeface="Aptos"/>
              </a:defRPr>
            </a:pPr>
            <a:r>
              <a:t>Recruitment evidence is sensitive; absence of evidence must never become a negative hiring score.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F9C9578-5849-42A6-AE47-AB96860A1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6492240"/>
            <a:ext cx="731520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8C9A97"/>
                </a:solidFill>
                <a:latin typeface="Aptos"/>
                <a:ea typeface="Aptos"/>
                <a:cs typeface="Aptos"/>
              </a:defRPr>
            </a:pPr>
            <a:r>
              <a:t>AI Trainee Programme  /  BJIT final project  /  October 2026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AF41D985-8320-40EE-A6D1-C77BBED2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176272"/>
            <a:ext cx="5303520" cy="1435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5F3E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68954B0D-42C8-4680-9A0E-E2A6670A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176272"/>
            <a:ext cx="64008" cy="1435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D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52C33AA-DC77-41B1-9AD7-204647A8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50008"/>
            <a:ext cx="4937759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520" b="1">
                <a:solidFill>
                  <a:srgbClr val="193D38"/>
                </a:solidFill>
                <a:latin typeface="Aptos"/>
                <a:ea typeface="Aptos"/>
                <a:cs typeface="Aptos"/>
              </a:defRPr>
            </a:pPr>
            <a:r>
              <a:t>Authorization and scope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89B8323F-7096-4848-9AC8-9EC3A224F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62072"/>
            <a:ext cx="491947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210" b="0">
                <a:solidFill>
                  <a:srgbClr val="5A706B"/>
                </a:solidFill>
                <a:latin typeface="Aptos"/>
                <a:ea typeface="Aptos"/>
                <a:cs typeface="Aptos"/>
              </a:defRPr>
            </a:pPr>
            <a:r>
              <a:t>Recruiter/job/interview ownership checks; candidate one-use invitation; no cross-owner evaluation.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C5E344C6-1957-406F-B8F6-54EE6633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2176272"/>
            <a:ext cx="5303520" cy="1435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5F3E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D5600E9A-78BC-4E38-BF42-ADCE10A5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2176272"/>
            <a:ext cx="64008" cy="1435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D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2CD63AEB-1A48-44A3-87CA-DFF4B833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2350008"/>
            <a:ext cx="4937759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520" b="1">
                <a:solidFill>
                  <a:srgbClr val="193D38"/>
                </a:solidFill>
                <a:latin typeface="Aptos"/>
                <a:ea typeface="Aptos"/>
                <a:cs typeface="Aptos"/>
              </a:defRPr>
            </a:pPr>
            <a:r>
              <a:t>Separate consent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620DB010-7F3D-4C1F-A2F8-54696BD3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2862072"/>
            <a:ext cx="491947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210" b="0">
                <a:solidFill>
                  <a:srgbClr val="5A706B"/>
                </a:solidFill>
                <a:latin typeface="Aptos"/>
                <a:ea typeface="Aptos"/>
                <a:cs typeface="Aptos"/>
              </a:defRPr>
            </a:pPr>
            <a:r>
              <a:t>External Groq, caption processing, transcript storage and F11 assistant have independent gates.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828A0ECB-7076-464A-B39F-509F663C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794760"/>
            <a:ext cx="5303520" cy="1435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CF7E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D3A82A12-B70F-4CE0-A0B5-EFA99335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794760"/>
            <a:ext cx="64008" cy="1435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70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593F94FB-7AC4-4D11-B15A-49682F2A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68496"/>
            <a:ext cx="4937759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520" b="1">
                <a:solidFill>
                  <a:srgbClr val="193D38"/>
                </a:solidFill>
                <a:latin typeface="Aptos"/>
                <a:ea typeface="Aptos"/>
                <a:cs typeface="Aptos"/>
              </a:defRPr>
            </a:pPr>
            <a:r>
              <a:t>Responsible scoring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891A25E0-0556-4680-88E8-71B0D819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80560"/>
            <a:ext cx="491947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210" b="0">
                <a:solidFill>
                  <a:srgbClr val="5A706B"/>
                </a:solidFill>
                <a:latin typeface="Aptos"/>
                <a:ea typeface="Aptos"/>
                <a:cs typeface="Aptos"/>
              </a:defRPr>
            </a:pPr>
            <a:r>
              <a:t>Job-relevant evidence and source-linked requirements. Unscored is not zero; missing F5 is not failure.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2CA694A0-616F-448F-B125-C593A5D7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3794760"/>
            <a:ext cx="5303520" cy="1435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CEEE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DA01D540-0B06-483E-97CF-FD7672F67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3794760"/>
            <a:ext cx="64008" cy="1435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422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60E2DF9F-8FCE-44FA-B27B-15FB5C85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3968496"/>
            <a:ext cx="4937759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520" b="1">
                <a:solidFill>
                  <a:srgbClr val="193D38"/>
                </a:solidFill>
                <a:latin typeface="Aptos"/>
                <a:ea typeface="Aptos"/>
                <a:cs typeface="Aptos"/>
              </a:defRPr>
            </a:pPr>
            <a:r>
              <a:t>Deletion boundary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C177562C-4AB6-4120-9643-3AF74E4A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4480560"/>
            <a:ext cx="491947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210" b="0">
                <a:solidFill>
                  <a:srgbClr val="5A706B"/>
                </a:solidFill>
                <a:latin typeface="Aptos"/>
                <a:ea typeface="Aptos"/>
                <a:cs typeface="Aptos"/>
              </a:defRPr>
            </a:pPr>
            <a:r>
              <a:t>Transcript withdrawal is implemented, but broad candidate-associated N19 deletion remains partial.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84E3662C-0AA0-4C1F-8F35-EBA25264E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623560"/>
            <a:ext cx="10789920" cy="1783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>
            <a:spAutoFit/>
          </a:bodyPr>
          <a:lstStyle xmlns:a="http://schemas.openxmlformats.org/drawingml/2006/main">
            <a:defPPr>
              <a:defRPr sz="1050"/>
            </a:defPPr>
            <a:lvl1pPr>
              <a:buNone/>
              <a:defRPr sz="1050"/>
            </a:lvl1pPr>
            <a:lvl2pPr>
              <a:buNone/>
              <a:defRPr sz="1050"/>
            </a:lvl2pPr>
            <a:lvl3pPr>
              <a:buNone/>
              <a:defRPr sz="1050"/>
            </a:lvl3pPr>
            <a:lvl4pPr>
              <a:buNone/>
              <a:defRPr sz="1050"/>
            </a:lvl4pPr>
            <a:lvl5pPr>
              <a:buNone/>
              <a:defRPr sz="1050"/>
            </a:lvl5pPr>
            <a:lvl6pPr>
              <a:buNone/>
              <a:defRPr sz="1050"/>
            </a:lvl6pPr>
            <a:lvl7pPr>
              <a:buNone/>
              <a:defRPr sz="1050"/>
            </a:lvl7pPr>
            <a:lvl8pPr>
              <a:buNone/>
              <a:defRPr sz="1050"/>
            </a:lvl8pPr>
            <a:lvl9pPr>
              <a:buNone/>
              <a:defRPr sz="1050"/>
            </a:lvl9pPr>
          </a:lstStyle>
          <a:p xmlns:a="http://schemas.openxmlformats.org/drawingml/2006/main">
            <a:pPr>
              <a:buNone/>
              <a:defRPr sz="1190" b="1">
                <a:solidFill>
                  <a:srgbClr val="104D43"/>
                </a:solidFill>
                <a:latin typeface="Aptos"/>
                <a:ea typeface="Aptos"/>
                <a:cs typeface="Aptos"/>
              </a:defRPr>
            </a:pPr>
            <a:r>
              <a:rPr sz="1050"/>
              <a:t>Use synthetic examples in demonstrations. Keep private CVs, transcripts, tokens and recordings outside Git.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0E205636-4FE3-4CC0-A785-BC168C8AC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4472" y="6492240"/>
            <a:ext cx="960120" cy="1583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19" b="0">
                <a:solidFill>
                  <a:srgbClr val="8C9A97"/>
                </a:solidFill>
                <a:latin typeface="Aptos"/>
                <a:ea typeface="Aptos"/>
                <a:cs typeface="Aptos"/>
              </a:defRPr>
            </a:pPr>
            <a:r>
              <a:t>16 / 18</a:t>
            </a:r>
          </a:p>
        </p:txBody>
      </p:sp>
    </p:spTree>
    <p:extLst>
      <p:ext uri="{BB962C8B-B14F-4D97-AF65-F5344CB8AC3E}">
        <p14:creationId xmlns:p14="http://schemas.microsoft.com/office/powerpoint/2010/main" val="99858002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4F60616A-81AD-4241-9D39-7C273CF0C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329184"/>
            <a:ext cx="429768" cy="4297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6D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44E8D4A-3477-4E2B-8DEE-4A19D4B5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" y="393192"/>
            <a:ext cx="228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T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1B76055-CDFE-4080-9397-A3DDFE816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411480"/>
            <a:ext cx="3474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250" b="1">
                <a:solidFill>
                  <a:srgbClr val="104D43"/>
                </a:solidFill>
                <a:latin typeface="Aptos"/>
                <a:ea typeface="Aptos"/>
                <a:cs typeface="Aptos"/>
              </a:defRPr>
            </a:pPr>
            <a:r>
              <a:t>TALENTTRACE AI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7C0DF22-7200-4B00-9619-D3F2B3C6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02336"/>
            <a:ext cx="3163824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5A706B"/>
                </a:solidFill>
                <a:latin typeface="Aptos"/>
                <a:ea typeface="Aptos"/>
                <a:cs typeface="Aptos"/>
              </a:defRPr>
            </a:pPr>
            <a:r>
              <a:t>DOCKER HANDOFF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94E17A9-43FB-4B2C-ADFA-4E3765F94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832104"/>
            <a:ext cx="11027664" cy="155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E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E480895-AD88-4081-8AD7-382ABAB4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1033271"/>
            <a:ext cx="10972800" cy="39547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>
            <a:spAutoFit/>
          </a:bodyPr>
          <a:lstStyle xmlns:a="http://schemas.openxmlformats.org/drawingml/2006/main">
            <a:defPPr>
              <a:defRPr sz="2475"/>
            </a:defPPr>
            <a:lvl1pPr>
              <a:buNone/>
              <a:defRPr sz="2475"/>
            </a:lvl1pPr>
            <a:lvl2pPr>
              <a:buNone/>
              <a:defRPr sz="2475"/>
            </a:lvl2pPr>
            <a:lvl3pPr>
              <a:buNone/>
              <a:defRPr sz="2475"/>
            </a:lvl3pPr>
            <a:lvl4pPr>
              <a:buNone/>
              <a:defRPr sz="2475"/>
            </a:lvl4pPr>
            <a:lvl5pPr>
              <a:buNone/>
              <a:defRPr sz="2475"/>
            </a:lvl5pPr>
            <a:lvl6pPr>
              <a:buNone/>
              <a:defRPr sz="2475"/>
            </a:lvl6pPr>
            <a:lvl7pPr>
              <a:buNone/>
              <a:defRPr sz="2475"/>
            </a:lvl7pPr>
            <a:lvl8pPr>
              <a:buNone/>
              <a:defRPr sz="2475"/>
            </a:lvl8pPr>
            <a:lvl9pPr>
              <a:buNone/>
              <a:defRPr sz="2475"/>
            </a:lvl9pPr>
          </a:lstStyle>
          <a:p xmlns:a="http://schemas.openxmlformats.org/drawingml/2006/main">
            <a:pPr>
              <a:buNone/>
              <a:defRPr sz="2750" b="1">
                <a:solidFill>
                  <a:srgbClr val="104D43"/>
                </a:solidFill>
                <a:latin typeface="Aptos"/>
                <a:ea typeface="Aptos"/>
                <a:cs typeface="Aptos"/>
              </a:defRPr>
            </a:pPr>
            <a:r>
              <a:rPr sz="2475"/>
              <a:t>Docker and reviewer setup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F617F1E-6E49-408F-A14A-306DADD35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09344"/>
            <a:ext cx="109728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400" b="0">
                <a:solidFill>
                  <a:srgbClr val="5A706B"/>
                </a:solidFill>
                <a:latin typeface="Aptos"/>
                <a:ea typeface="Aptos"/>
                <a:cs typeface="Aptos"/>
              </a:defRPr>
            </a:pPr>
            <a:r>
              <a:t>A clean checkout can run the provider-disabled application after explicit setup; full-feature parity is not verified.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A8447C7-2A3D-4929-87D8-03B0DAB7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6492240"/>
            <a:ext cx="731520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8C9A97"/>
                </a:solidFill>
                <a:latin typeface="Aptos"/>
                <a:ea typeface="Aptos"/>
                <a:cs typeface="Aptos"/>
              </a:defRPr>
            </a:pPr>
            <a:r>
              <a:t>AI Trainee Programme  /  BJIT final project  /  October 2026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A2727B8-3442-4882-ACEF-D04AB31D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2157984"/>
            <a:ext cx="10826496" cy="16642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9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DD3D107-AA47-4F88-8103-0C34725A4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50008"/>
            <a:ext cx="1024128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600" b="1">
                <a:solidFill>
                  <a:srgbClr val="104D43"/>
                </a:solidFill>
                <a:latin typeface="Aptos"/>
                <a:ea typeface="Aptos"/>
                <a:cs typeface="Aptos"/>
              </a:defRPr>
            </a:pPr>
            <a:r>
              <a:t>Reviewer checkout (access to private repository required)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91A35A77-EDC8-4DC4-83A6-986E99F9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770632"/>
            <a:ext cx="10195560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>
            <a:spAutoFit/>
          </a:bodyPr>
          <a:lstStyle xmlns:a="http://schemas.openxmlformats.org/drawingml/2006/main">
            <a:defPPr>
              <a:defRPr sz="1350"/>
            </a:defPPr>
            <a:lvl1pPr>
              <a:buNone/>
              <a:defRPr sz="1350"/>
            </a:lvl1pPr>
            <a:lvl2pPr>
              <a:buNone/>
              <a:defRPr sz="1350"/>
            </a:lvl2pPr>
            <a:lvl3pPr>
              <a:buNone/>
              <a:defRPr sz="1350"/>
            </a:lvl3pPr>
            <a:lvl4pPr>
              <a:buNone/>
              <a:defRPr sz="1350"/>
            </a:lvl4pPr>
            <a:lvl5pPr>
              <a:buNone/>
              <a:defRPr sz="1350"/>
            </a:lvl5pPr>
            <a:lvl6pPr>
              <a:buNone/>
              <a:defRPr sz="1350"/>
            </a:lvl6pPr>
            <a:lvl7pPr>
              <a:buNone/>
              <a:defRPr sz="1350"/>
            </a:lvl7pPr>
            <a:lvl8pPr>
              <a:buNone/>
              <a:defRPr sz="1350"/>
            </a:lvl8pPr>
            <a:lvl9pPr>
              <a:buNone/>
              <a:defRPr sz="1350"/>
            </a:lvl9pPr>
          </a:lstStyle>
          <a:p xmlns:a="http://schemas.openxmlformats.org/drawingml/2006/main">
            <a:pPr>
              <a:buNone/>
              <a:defRPr sz="1600" b="0">
                <a:solidFill>
                  <a:srgbClr val="193D38"/>
                </a:solidFill>
                <a:latin typeface="Aptos"/>
                <a:ea typeface="Aptos"/>
                <a:cs typeface="Aptos"/>
              </a:defRPr>
            </a:pPr>
            <a:r>
              <a:rPr sz="1350"/>
              <a:t>git clone --branch v1.0-final --single-branch https://github.com/shafi-mahmud/TalentTrace-AI.git</a:t>
            </a:r>
          </a:p>
          <a:p xmlns:a="http://schemas.openxmlformats.org/drawingml/2006/main">
            <a:pPr>
              <a:buNone/>
              <a:defRPr sz="1600" b="0">
                <a:solidFill>
                  <a:srgbClr val="193D3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93D38"/>
                </a:solidFill>
                <a:latin typeface="Aptos"/>
                <a:ea typeface="Aptos"/>
                <a:cs typeface="Aptos"/>
              </a:rPr>
              <a:t>cd TalentTrace-AI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245E1C10-BBC5-42DD-98A5-0BDC5A70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005072"/>
            <a:ext cx="5230368" cy="13533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5F3E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4517A68B-F23C-4250-8DBE-87900B7A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005072"/>
            <a:ext cx="64008" cy="13533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D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C5303930-0067-4273-B49A-BB7C7EB3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8808"/>
            <a:ext cx="4864607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550" b="1">
                <a:solidFill>
                  <a:srgbClr val="193D38"/>
                </a:solidFill>
                <a:latin typeface="Aptos"/>
                <a:ea typeface="Aptos"/>
                <a:cs typeface="Aptos"/>
              </a:defRPr>
            </a:pPr>
            <a:r>
              <a:t>Baseline setup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71FC507A-AE6F-44E4-A83E-57C52D08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90872"/>
            <a:ext cx="4846320" cy="3611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>
            <a:spAutoFit/>
          </a:bodyPr>
          <a:lstStyle xmlns:a="http://schemas.openxmlformats.org/drawingml/2006/main">
            <a:defPPr>
              <a:defRPr sz="1125"/>
            </a:defPPr>
            <a:lvl1pPr>
              <a:buNone/>
              <a:defRPr sz="1125"/>
            </a:lvl1pPr>
            <a:lvl2pPr>
              <a:buNone/>
              <a:defRPr sz="1125"/>
            </a:lvl2pPr>
            <a:lvl3pPr>
              <a:buNone/>
              <a:defRPr sz="1125"/>
            </a:lvl3pPr>
            <a:lvl4pPr>
              <a:buNone/>
              <a:defRPr sz="1125"/>
            </a:lvl4pPr>
            <a:lvl5pPr>
              <a:buNone/>
              <a:defRPr sz="1125"/>
            </a:lvl5pPr>
            <a:lvl6pPr>
              <a:buNone/>
              <a:defRPr sz="1125"/>
            </a:lvl6pPr>
            <a:lvl7pPr>
              <a:buNone/>
              <a:defRPr sz="1125"/>
            </a:lvl7pPr>
            <a:lvl8pPr>
              <a:buNone/>
              <a:defRPr sz="1125"/>
            </a:lvl8pPr>
            <a:lvl9pPr>
              <a:buNone/>
              <a:defRPr sz="1125"/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A706B"/>
                </a:solidFill>
                <a:latin typeface="Aptos"/>
                <a:ea typeface="Aptos"/>
                <a:cs typeface="Aptos"/>
              </a:defRPr>
            </a:pPr>
            <a:r>
              <a:rPr sz="1125"/>
              <a:t>New private config, fresh volume, migration 0017, Compose startup and synthetic recruiter provisioning.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9EBA38DA-6BEB-4C76-84A5-EE2AEE89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4005072"/>
            <a:ext cx="5230368" cy="13533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CF7E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8B3E4C7-7E55-497E-B121-3B05A0CF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4005072"/>
            <a:ext cx="64008" cy="13533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70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C4038FC3-E332-4A30-A96F-0FD67C52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4178808"/>
            <a:ext cx="4864607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550" b="1">
                <a:solidFill>
                  <a:srgbClr val="193D38"/>
                </a:solidFill>
                <a:latin typeface="Aptos"/>
                <a:ea typeface="Aptos"/>
                <a:cs typeface="Aptos"/>
              </a:defRPr>
            </a:pPr>
            <a:r>
              <a:t>Optional integrations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08EF1BD-03BE-4BDA-839D-DDD267ED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4690872"/>
            <a:ext cx="48463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A706B"/>
                </a:solidFill>
                <a:latin typeface="Aptos"/>
                <a:ea typeface="Aptos"/>
                <a:cs typeface="Aptos"/>
              </a:defRPr>
            </a:pPr>
            <a:r>
              <a:t>Groq needs private key + BGE model cache. LiveKit, AssemblyAI, F5 and F11 need separate readiness/consent.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E496E2FB-1CF9-4461-B417-DC5F6E94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4472" y="6492240"/>
            <a:ext cx="960120" cy="1583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19" b="0">
                <a:solidFill>
                  <a:srgbClr val="8C9A97"/>
                </a:solidFill>
                <a:latin typeface="Aptos"/>
                <a:ea typeface="Aptos"/>
                <a:cs typeface="Aptos"/>
              </a:defRPr>
            </a:pPr>
            <a:r>
              <a:t>17 / 18</a:t>
            </a:r>
          </a:p>
        </p:txBody>
      </p:sp>
    </p:spTree>
    <p:extLst>
      <p:ext uri="{BB962C8B-B14F-4D97-AF65-F5344CB8AC3E}">
        <p14:creationId xmlns:p14="http://schemas.microsoft.com/office/powerpoint/2010/main" val="118767884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B3245BB-3797-443B-A958-4B8E487D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0A3733"/>
          </a:solidFill>
          <a:ln xmlns:a="http://schemas.openxmlformats.org/drawingml/2006/main" w="12700">
            <a:solidFill>
              <a:srgbClr val="0A3733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9227AED-D63D-435B-9293-D1E5009D0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8288"/>
            <a:ext cx="4526280" cy="51846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6F5E">
              <a:alpha val="83000"/>
            </a:srgbClr>
          </a:solidFill>
          <a:ln xmlns:a="http://schemas.openxmlformats.org/drawingml/2006/main" w="12700">
            <a:solidFill>
              <a:srgbClr val="1E6F5E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18BBBBB-D973-4AD3-BE85-8B8A27B8E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960120"/>
            <a:ext cx="6309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80" b="1" spc="180">
                <a:solidFill>
                  <a:srgbClr val="BBE3D5"/>
                </a:solidFill>
                <a:latin typeface="Aptos"/>
                <a:ea typeface="Aptos"/>
                <a:cs typeface="Aptos"/>
              </a:rPr>
              <a:t>Q&amp;A</a:t>
            </a:r>
            <a:endParaRPr sz="178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AFBFC18-51CF-4E40-ADA4-7D950195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947672"/>
            <a:ext cx="66751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Thank you.</a:t>
            </a:r>
            <a:endParaRPr sz="55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EE01CEC-7B17-4305-8910-E2D17EC6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282696"/>
            <a:ext cx="5852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600" b="1">
                <a:solidFill>
                  <a:srgbClr val="CBE9DC"/>
                </a:solidFill>
                <a:latin typeface="Aptos"/>
                <a:ea typeface="Aptos"/>
                <a:cs typeface="Aptos"/>
              </a:rPr>
              <a:t>TalentTrace AI</a:t>
            </a:r>
            <a:endParaRPr sz="26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BCA17D0-930F-4FBD-BE92-AE91FA3B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078224"/>
            <a:ext cx="502005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590">
            <a:solidFill>
              <a:srgbClr val="569282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765FF2D-BA9E-42C6-8339-F528BE06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1417320"/>
            <a:ext cx="210312" cy="2103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B84B"/>
          </a:solidFill>
          <a:ln xmlns:a="http://schemas.openxmlformats.org/drawingml/2006/main" w="12700">
            <a:solidFill>
              <a:srgbClr val="F1B84B">
                <a:alpha val="0"/>
              </a:srgbClr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19390B7-6887-4A4A-A916-934D9411D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1453896"/>
            <a:ext cx="210312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0A3733"/>
                </a:solidFill>
                <a:latin typeface="Aptos"/>
                <a:ea typeface="Aptos"/>
                <a:cs typeface="Aptos"/>
              </a:rPr>
              <a:t>1</a:t>
            </a:r>
            <a:endParaRPr sz="9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69A83B2-9BCB-4365-90DC-28E5474FF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380744"/>
            <a:ext cx="35204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7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Why LangGraph rather than one LLM prompt?</a:t>
            </a:r>
            <a:endParaRPr sz="137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376FF41-43C3-4F7B-A947-FF9F5FE9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194560"/>
            <a:ext cx="210312" cy="2103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B84B"/>
          </a:solidFill>
          <a:ln xmlns:a="http://schemas.openxmlformats.org/drawingml/2006/main" w="12700">
            <a:solidFill>
              <a:srgbClr val="F1B84B">
                <a:alpha val="0"/>
              </a:srgbClr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840F099-7F65-4587-9CB7-FB6D520B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231136"/>
            <a:ext cx="210312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0A3733"/>
                </a:solidFill>
                <a:latin typeface="Aptos"/>
                <a:ea typeface="Aptos"/>
                <a:cs typeface="Aptos"/>
              </a:rPr>
              <a:t>2</a:t>
            </a:r>
            <a:endParaRPr sz="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7FEB7D3-F7DD-4751-81E0-1848AB3E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157984"/>
            <a:ext cx="35204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7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How do scores remain evidence-backed?</a:t>
            </a:r>
            <a:endParaRPr sz="137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1A30172A-C74C-449C-B536-7DBF136D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971800"/>
            <a:ext cx="210312" cy="2103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B84B"/>
          </a:solidFill>
          <a:ln xmlns:a="http://schemas.openxmlformats.org/drawingml/2006/main" w="12700">
            <a:solidFill>
              <a:srgbClr val="F1B84B">
                <a:alpha val="0"/>
              </a:srgbClr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DF8F12D-E600-45E4-8BF3-9F6D3900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3008376"/>
            <a:ext cx="210312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0A3733"/>
                </a:solidFill>
                <a:latin typeface="Aptos"/>
                <a:ea typeface="Aptos"/>
                <a:cs typeface="Aptos"/>
              </a:rPr>
              <a:t>3</a:t>
            </a:r>
            <a:endParaRPr sz="9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05BC613-EA42-4242-ABA6-D209F524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35224"/>
            <a:ext cx="35204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7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How is candidate privacy protected?</a:t>
            </a:r>
            <a:endParaRPr sz="137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814E43F4-CD0F-4C7B-AFB1-F6B65C42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3749040"/>
            <a:ext cx="210312" cy="2103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B84B"/>
          </a:solidFill>
          <a:ln xmlns:a="http://schemas.openxmlformats.org/drawingml/2006/main" w="12700">
            <a:solidFill>
              <a:srgbClr val="F1B84B">
                <a:alpha val="0"/>
              </a:srgbClr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9E6301D-D935-4B83-A2E4-D3EEE223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3785616"/>
            <a:ext cx="210312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0A3733"/>
                </a:solidFill>
                <a:latin typeface="Aptos"/>
                <a:ea typeface="Aptos"/>
                <a:cs typeface="Aptos"/>
              </a:rPr>
              <a:t>4</a:t>
            </a:r>
            <a:endParaRPr sz="9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88D0D35-C4F1-4AAC-8A2D-FBAB49361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12464"/>
            <a:ext cx="35204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7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Which features are still not live-verified?</a:t>
            </a:r>
            <a:endParaRPr sz="137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BA5E48D-AAE7-4B2B-8B13-B3DD1AC4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6144768"/>
            <a:ext cx="9144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250">
                <a:solidFill>
                  <a:srgbClr val="C9E2DA"/>
                </a:solidFill>
                <a:latin typeface="Aptos"/>
                <a:ea typeface="Aptos"/>
                <a:cs typeface="Aptos"/>
              </a:rPr>
              <a:t>Presented by Md. Shafi Mahmud  /  BJIT final project</a:t>
            </a:r>
            <a:endParaRPr sz="90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0E537F-0322-4125-B642-C6E9540F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34150"/>
            <a:ext cx="981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25" b="0">
                <a:solidFill>
                  <a:srgbClr val="B5D7CD"/>
                </a:solidFill>
                <a:latin typeface="Aptos"/>
                <a:ea typeface="Aptos"/>
                <a:cs typeface="Aptos"/>
              </a:defRPr>
            </a:defPPr>
            <a:lvl1pPr algn="r">
              <a:buNone/>
              <a:defRPr sz="825" b="0">
                <a:solidFill>
                  <a:srgbClr val="B5D7CD"/>
                </a:solidFill>
                <a:latin typeface="Aptos"/>
                <a:ea typeface="Aptos"/>
                <a:cs typeface="Aptos"/>
              </a:defRPr>
            </a:lvl1pPr>
            <a:lvl2pPr algn="r">
              <a:buNone/>
              <a:defRPr sz="825" b="0">
                <a:solidFill>
                  <a:srgbClr val="B5D7CD"/>
                </a:solidFill>
                <a:latin typeface="Aptos"/>
                <a:ea typeface="Aptos"/>
                <a:cs typeface="Aptos"/>
              </a:defRPr>
            </a:lvl2pPr>
            <a:lvl3pPr algn="r">
              <a:buNone/>
              <a:defRPr sz="825" b="0">
                <a:solidFill>
                  <a:srgbClr val="B5D7CD"/>
                </a:solidFill>
                <a:latin typeface="Aptos"/>
                <a:ea typeface="Aptos"/>
                <a:cs typeface="Aptos"/>
              </a:defRPr>
            </a:lvl3pPr>
            <a:lvl4pPr algn="r">
              <a:buNone/>
              <a:defRPr sz="825" b="0">
                <a:solidFill>
                  <a:srgbClr val="B5D7CD"/>
                </a:solidFill>
                <a:latin typeface="Aptos"/>
                <a:ea typeface="Aptos"/>
                <a:cs typeface="Aptos"/>
              </a:defRPr>
            </a:lvl4pPr>
            <a:lvl5pPr algn="r">
              <a:buNone/>
              <a:defRPr sz="825" b="0">
                <a:solidFill>
                  <a:srgbClr val="B5D7CD"/>
                </a:solidFill>
                <a:latin typeface="Aptos"/>
                <a:ea typeface="Aptos"/>
                <a:cs typeface="Aptos"/>
              </a:defRPr>
            </a:lvl5pPr>
            <a:lvl6pPr algn="r">
              <a:buNone/>
              <a:defRPr sz="825" b="0">
                <a:solidFill>
                  <a:srgbClr val="B5D7CD"/>
                </a:solidFill>
                <a:latin typeface="Aptos"/>
                <a:ea typeface="Aptos"/>
                <a:cs typeface="Aptos"/>
              </a:defRPr>
            </a:lvl6pPr>
            <a:lvl7pPr algn="r">
              <a:buNone/>
              <a:defRPr sz="825" b="0">
                <a:solidFill>
                  <a:srgbClr val="B5D7CD"/>
                </a:solidFill>
                <a:latin typeface="Aptos"/>
                <a:ea typeface="Aptos"/>
                <a:cs typeface="Aptos"/>
              </a:defRPr>
            </a:lvl7pPr>
            <a:lvl8pPr algn="r">
              <a:buNone/>
              <a:defRPr sz="825" b="0">
                <a:solidFill>
                  <a:srgbClr val="B5D7CD"/>
                </a:solidFill>
                <a:latin typeface="Aptos"/>
                <a:ea typeface="Aptos"/>
                <a:cs typeface="Aptos"/>
              </a:defRPr>
            </a:lvl8pPr>
            <a:lvl9pPr algn="r">
              <a:buNone/>
              <a:defRPr sz="825" b="0">
                <a:solidFill>
                  <a:srgbClr val="B5D7C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buNone/>
              <a:defRPr sz="825" b="0">
                <a:solidFill>
                  <a:srgbClr val="B5D7C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5D7CD"/>
                </a:solidFill>
                <a:latin typeface="Aptos"/>
                <a:ea typeface="Aptos"/>
                <a:cs typeface="Aptos"/>
              </a:rPr>
              <a:t>18 / 18</a:t>
            </a:r>
          </a:p>
        </p:txBody>
      </p:sp>
    </p:spTree>
    <p:extLst>
      <p:ext uri="{BB962C8B-B14F-4D97-AF65-F5344CB8AC3E}">
        <p14:creationId xmlns:p14="http://schemas.microsoft.com/office/powerpoint/2010/main" val="151277537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2026-10-29T04:18:11.5710000Z</dcterms:created>
  <dcterms:modified xsi:type="dcterms:W3CDTF">2026-10-29T04:18:11.5710000Z</dcterms:modified>
</coreProperties>
</file>